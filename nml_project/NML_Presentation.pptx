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embeddedFontLst>
    <p:embeddedFont>
      <p:font typeface="Libre Franklin" pitchFamily="2" charset="0"/>
      <p:regular r:id="rId20"/>
      <p:bold r:id="rId21"/>
      <p:italic r:id="rId22"/>
      <p:bold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FC955C-4E89-4CB0-8DCC-417F95FC8532}">
  <a:tblStyle styleId="{2FFC955C-4E89-4CB0-8DCC-417F95FC85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6805c0869a_0_66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6805c0869a_0_6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805c0869a_0_24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1min</a:t>
            </a:r>
            <a:endParaRPr/>
          </a:p>
          <a:p>
            <a:pPr marL="0" lvl="0" indent="0" algn="l" rtl="0">
              <a:spcBef>
                <a:spcPts val="0"/>
              </a:spcBef>
              <a:spcAft>
                <a:spcPts val="0"/>
              </a:spcAft>
              <a:buNone/>
            </a:pPr>
            <a:r>
              <a:rPr lang="fr"/>
              <a:t>We are Group 22, presenting our work on the course project of graph based EEG analysis</a:t>
            </a:r>
            <a:br>
              <a:rPr lang="fr"/>
            </a:br>
            <a:br>
              <a:rPr lang="fr"/>
            </a:br>
            <a:r>
              <a:rPr lang="fr" sz="1400">
                <a:solidFill>
                  <a:schemeClr val="dk1"/>
                </a:solidFill>
              </a:rPr>
              <a:t>Epilepsy involves </a:t>
            </a:r>
            <a:r>
              <a:rPr lang="fr" sz="1400" b="1">
                <a:solidFill>
                  <a:schemeClr val="dk1"/>
                </a:solidFill>
              </a:rPr>
              <a:t>recurrent seizures</a:t>
            </a:r>
            <a:r>
              <a:rPr lang="fr" sz="1400">
                <a:solidFill>
                  <a:schemeClr val="dk1"/>
                </a:solidFill>
              </a:rPr>
              <a:t> due to abnormal neuronal activity.</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Detecting seizures</a:t>
            </a:r>
            <a:r>
              <a:rPr lang="fr" sz="1400">
                <a:solidFill>
                  <a:schemeClr val="dk1"/>
                </a:solidFill>
              </a:rPr>
              <a:t> from EEG signals is challenging due to their noisy, high-dimensional, and non-stationary nature.</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a:solidFill>
                  <a:schemeClr val="dk1"/>
                </a:solidFill>
              </a:rPr>
              <a:t>Traditional methods (RNNs, transformers) often ignore </a:t>
            </a:r>
            <a:r>
              <a:rPr lang="fr" sz="1400" b="1">
                <a:solidFill>
                  <a:schemeClr val="dk1"/>
                </a:solidFill>
              </a:rPr>
              <a:t>spatial relationships</a:t>
            </a:r>
            <a:r>
              <a:rPr lang="fr" sz="1400">
                <a:solidFill>
                  <a:schemeClr val="dk1"/>
                </a:solidFill>
              </a:rPr>
              <a:t> between electrodes which is a key aspect of brain connectivity.</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Graph-based methods</a:t>
            </a:r>
            <a:r>
              <a:rPr lang="fr" sz="1400">
                <a:solidFill>
                  <a:schemeClr val="dk1"/>
                </a:solidFill>
              </a:rPr>
              <a:t> may help capture these relationships and improve both performance and interpretability in seizure detection.</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a:solidFill>
                  <a:schemeClr val="dk1"/>
                </a:solidFill>
              </a:rPr>
              <a:t>This project aims to </a:t>
            </a:r>
            <a:r>
              <a:rPr lang="fr" sz="1400" b="1">
                <a:solidFill>
                  <a:schemeClr val="dk1"/>
                </a:solidFill>
              </a:rPr>
              <a:t>compare graph-based approaches with traditional methods</a:t>
            </a:r>
            <a:r>
              <a:rPr lang="fr" sz="1400">
                <a:solidFill>
                  <a:schemeClr val="dk1"/>
                </a:solidFill>
              </a:rPr>
              <a:t> to determine their potential for improving seizure detection.</a:t>
            </a:r>
            <a:endParaRPr/>
          </a:p>
          <a:p>
            <a:pPr marL="0" lvl="0" indent="0" algn="l" rtl="0">
              <a:spcBef>
                <a:spcPts val="0"/>
              </a:spcBef>
              <a:spcAft>
                <a:spcPts val="0"/>
              </a:spcAft>
              <a:buNone/>
            </a:pPr>
            <a:endParaRPr/>
          </a:p>
        </p:txBody>
      </p:sp>
      <p:sp>
        <p:nvSpPr>
          <p:cNvPr id="169" name="Google Shape;169;g36805c0869a_0_2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6805c0869a_0_58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457200" lvl="0" indent="-350520" algn="l" rtl="0">
              <a:lnSpc>
                <a:spcPct val="90000"/>
              </a:lnSpc>
              <a:spcBef>
                <a:spcPts val="0"/>
              </a:spcBef>
              <a:spcAft>
                <a:spcPts val="0"/>
              </a:spcAft>
              <a:buClr>
                <a:srgbClr val="E30613"/>
              </a:buClr>
              <a:buSzPts val="1920"/>
              <a:buFont typeface="Noto Sans Symbols"/>
              <a:buChar char="-"/>
            </a:pPr>
            <a:r>
              <a:rPr lang="fr" sz="1400">
                <a:solidFill>
                  <a:schemeClr val="dk1"/>
                </a:solidFill>
              </a:rPr>
              <a:t>Subset of</a:t>
            </a:r>
            <a:r>
              <a:rPr lang="fr" sz="1400" b="1">
                <a:solidFill>
                  <a:schemeClr val="dk1"/>
                </a:solidFill>
              </a:rPr>
              <a:t> Temple University Hospital (TUSZ) dataset,</a:t>
            </a:r>
            <a:r>
              <a:rPr lang="fr" sz="1400">
                <a:solidFill>
                  <a:schemeClr val="dk1"/>
                </a:solidFill>
              </a:rPr>
              <a:t> a large and publicly available EEG database with seizures.</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Comprises 12-second recordings</a:t>
            </a:r>
            <a:r>
              <a:rPr lang="fr" sz="1400">
                <a:solidFill>
                  <a:schemeClr val="dk1"/>
                </a:solidFill>
              </a:rPr>
              <a:t> (at 250 Hz) from 19 electrodes placed according to the international 10–20 system.</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Training: 97 patients; Validation: 9; Test: 25</a:t>
            </a:r>
            <a:r>
              <a:rPr lang="fr" sz="1400">
                <a:solidFill>
                  <a:schemeClr val="dk1"/>
                </a:solidFill>
              </a:rPr>
              <a:t>; did a patient-wise split to avoid data leakage.</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Class imbalance</a:t>
            </a:r>
            <a:r>
              <a:rPr lang="fr" sz="1400">
                <a:solidFill>
                  <a:schemeClr val="dk1"/>
                </a:solidFill>
              </a:rPr>
              <a:t> — seizures make up only </a:t>
            </a:r>
            <a:r>
              <a:rPr lang="fr" sz="1400" b="1">
                <a:solidFill>
                  <a:schemeClr val="dk1"/>
                </a:solidFill>
              </a:rPr>
              <a:t>~20%</a:t>
            </a:r>
            <a:r>
              <a:rPr lang="fr" sz="1400">
                <a:solidFill>
                  <a:schemeClr val="dk1"/>
                </a:solidFill>
              </a:rPr>
              <a:t> of total segments (∼13,000 segments in total), used weighted loss in training.</a:t>
            </a:r>
            <a:br>
              <a:rPr lang="fr" sz="1400">
                <a:solidFill>
                  <a:schemeClr val="dk1"/>
                </a:solidFill>
              </a:rPr>
            </a:br>
            <a:endParaRPr sz="1400">
              <a:solidFill>
                <a:schemeClr val="dk1"/>
              </a:solidFill>
            </a:endParaRPr>
          </a:p>
          <a:p>
            <a:pPr marL="457200" lvl="0" indent="-369570" algn="l" rtl="0">
              <a:lnSpc>
                <a:spcPct val="90000"/>
              </a:lnSpc>
              <a:spcBef>
                <a:spcPts val="0"/>
              </a:spcBef>
              <a:spcAft>
                <a:spcPts val="0"/>
              </a:spcAft>
              <a:buClr>
                <a:srgbClr val="E30613"/>
              </a:buClr>
              <a:buSzPts val="2220"/>
              <a:buFont typeface="Noto Sans Symbols"/>
              <a:buChar char="-"/>
            </a:pPr>
            <a:r>
              <a:rPr lang="fr" sz="1400" b="1">
                <a:solidFill>
                  <a:schemeClr val="dk1"/>
                </a:solidFill>
              </a:rPr>
              <a:t>Preprocessing</a:t>
            </a:r>
            <a:r>
              <a:rPr lang="fr" sz="1400">
                <a:solidFill>
                  <a:schemeClr val="dk1"/>
                </a:solidFill>
              </a:rPr>
              <a:t> — Signals were </a:t>
            </a:r>
            <a:r>
              <a:rPr lang="fr" sz="1400" b="1">
                <a:solidFill>
                  <a:schemeClr val="dk1"/>
                </a:solidFill>
              </a:rPr>
              <a:t>band-pass filtered (0.5–30 Hz)</a:t>
            </a:r>
            <a:r>
              <a:rPr lang="fr" sz="1400">
                <a:solidFill>
                  <a:schemeClr val="dk1"/>
                </a:solidFill>
              </a:rPr>
              <a:t> to focus on relevant brain activity, and transformed with </a:t>
            </a:r>
            <a:r>
              <a:rPr lang="fr" sz="1400" b="1">
                <a:solidFill>
                  <a:schemeClr val="dk1"/>
                </a:solidFill>
              </a:rPr>
              <a:t>FFT</a:t>
            </a:r>
            <a:r>
              <a:rPr lang="fr" sz="1400">
                <a:solidFill>
                  <a:schemeClr val="dk1"/>
                </a:solidFill>
              </a:rPr>
              <a:t> for frequency-domain features; both </a:t>
            </a:r>
            <a:r>
              <a:rPr lang="fr" sz="1400" b="1">
                <a:solidFill>
                  <a:schemeClr val="dk1"/>
                </a:solidFill>
              </a:rPr>
              <a:t>time-domain and frequency-domain representations</a:t>
            </a:r>
            <a:r>
              <a:rPr lang="fr" sz="1400">
                <a:solidFill>
                  <a:schemeClr val="dk1"/>
                </a:solidFill>
              </a:rPr>
              <a:t> were explored.</a:t>
            </a:r>
            <a:endParaRPr/>
          </a:p>
        </p:txBody>
      </p:sp>
      <p:sp>
        <p:nvSpPr>
          <p:cNvPr id="178" name="Google Shape;178;g36805c0869a_0_5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6805c0869a_0_59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30 seconds for each method</a:t>
            </a:r>
            <a:endParaRPr/>
          </a:p>
          <a:p>
            <a:pPr marL="0" lvl="0" indent="0" algn="l" rtl="0">
              <a:spcBef>
                <a:spcPts val="0"/>
              </a:spcBef>
              <a:spcAft>
                <a:spcPts val="0"/>
              </a:spcAft>
              <a:buNone/>
            </a:pPr>
            <a:r>
              <a:rPr lang="fr" sz="1400" b="1">
                <a:solidFill>
                  <a:schemeClr val="dk1"/>
                </a:solidFill>
              </a:rPr>
              <a:t>Bidirectional LSTM</a:t>
            </a:r>
            <a:r>
              <a:rPr lang="fr" sz="1400">
                <a:solidFill>
                  <a:schemeClr val="dk1"/>
                </a:solidFill>
              </a:rPr>
              <a:t> — Processes sequences in both forward and backward directions, capturing </a:t>
            </a:r>
            <a:r>
              <a:rPr lang="fr" sz="1400" b="1">
                <a:solidFill>
                  <a:schemeClr val="dk1"/>
                </a:solidFill>
              </a:rPr>
              <a:t>complex temporal dependencies</a:t>
            </a:r>
            <a:r>
              <a:rPr lang="fr" sz="1400">
                <a:solidFill>
                  <a:schemeClr val="dk1"/>
                </a:solidFill>
              </a:rPr>
              <a:t> in EEG signals.</a:t>
            </a:r>
            <a:br>
              <a:rPr lang="fr" sz="1400">
                <a:solidFill>
                  <a:schemeClr val="dk1"/>
                </a:solidFill>
              </a:rPr>
            </a:br>
            <a:endParaRPr sz="1400">
              <a:solidFill>
                <a:schemeClr val="dk1"/>
              </a:solidFill>
            </a:endParaRPr>
          </a:p>
          <a:p>
            <a:pPr marL="457200" lvl="0" indent="-350520" algn="l" rtl="0">
              <a:lnSpc>
                <a:spcPct val="90000"/>
              </a:lnSpc>
              <a:spcBef>
                <a:spcPts val="0"/>
              </a:spcBef>
              <a:spcAft>
                <a:spcPts val="0"/>
              </a:spcAft>
              <a:buClr>
                <a:srgbClr val="E30613"/>
              </a:buClr>
              <a:buSzPts val="1920"/>
              <a:buFont typeface="Noto Sans Symbols"/>
              <a:buChar char="-"/>
            </a:pPr>
            <a:r>
              <a:rPr lang="fr" sz="1400" b="1">
                <a:solidFill>
                  <a:schemeClr val="dk1"/>
                </a:solidFill>
              </a:rPr>
              <a:t>Provides context</a:t>
            </a:r>
            <a:r>
              <a:rPr lang="fr" sz="1400">
                <a:solidFill>
                  <a:schemeClr val="dk1"/>
                </a:solidFill>
              </a:rPr>
              <a:t> from both past and future time steps, which can be crucial for </a:t>
            </a:r>
            <a:r>
              <a:rPr lang="fr" sz="1400" b="1">
                <a:solidFill>
                  <a:schemeClr val="dk1"/>
                </a:solidFill>
              </a:rPr>
              <a:t>detecting seizures with subtle and context-dependent patterns</a:t>
            </a:r>
            <a:r>
              <a:rPr lang="fr" sz="1400">
                <a:solidFill>
                  <a:schemeClr val="dk1"/>
                </a:solidFill>
              </a:rPr>
              <a:t>.</a:t>
            </a:r>
            <a:endParaRPr sz="2100">
              <a:solidFill>
                <a:srgbClr val="413C3A"/>
              </a:solidFill>
            </a:endParaRPr>
          </a:p>
          <a:p>
            <a:pPr marL="0" lvl="0" indent="0" algn="l" rtl="0">
              <a:spcBef>
                <a:spcPts val="0"/>
              </a:spcBef>
              <a:spcAft>
                <a:spcPts val="0"/>
              </a:spcAft>
              <a:buNone/>
            </a:pPr>
            <a:endParaRPr/>
          </a:p>
        </p:txBody>
      </p:sp>
      <p:sp>
        <p:nvSpPr>
          <p:cNvPr id="188" name="Google Shape;188;g36805c0869a_0_5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6805c0869a_0_79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rgbClr val="413C3A"/>
              </a:buClr>
              <a:buSzPts val="1500"/>
              <a:buChar char="-"/>
            </a:pPr>
            <a:r>
              <a:rPr lang="fr" sz="1500">
                <a:solidFill>
                  <a:srgbClr val="413C3A"/>
                </a:solidFill>
              </a:rPr>
              <a:t>This architecture uses a 1D ResNet to extract multi-scale temporal features from raw EEG signals, capturing localized seizure patterns through residual learning. These features are reshaped into a time series and passed to an LSTM, which models long-range temporal dependencies. The output is then fed through fully connected layers for seizure classification. While the original paper used SMOTE for class balancing, in our implementation we tested class weighting instead, and added an extra dense layer with ReLU before the final binary output.</a:t>
            </a:r>
            <a:endParaRPr sz="800"/>
          </a:p>
          <a:p>
            <a:pPr marL="0" lvl="0" indent="0" algn="l" rtl="0">
              <a:spcBef>
                <a:spcPts val="0"/>
              </a:spcBef>
              <a:spcAft>
                <a:spcPts val="0"/>
              </a:spcAft>
              <a:buNone/>
            </a:pPr>
            <a:endParaRPr/>
          </a:p>
        </p:txBody>
      </p:sp>
      <p:sp>
        <p:nvSpPr>
          <p:cNvPr id="199" name="Google Shape;199;g36805c0869a_0_7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6805c0869a_0_78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2-3min</a:t>
            </a:r>
            <a:endParaRPr/>
          </a:p>
          <a:p>
            <a:pPr marL="0" lvl="0" indent="0" algn="l" rtl="0">
              <a:spcBef>
                <a:spcPts val="0"/>
              </a:spcBef>
              <a:spcAft>
                <a:spcPts val="0"/>
              </a:spcAft>
              <a:buNone/>
            </a:pPr>
            <a:endParaRPr/>
          </a:p>
          <a:p>
            <a:pPr marL="0" lvl="0" indent="0" algn="l" rtl="0">
              <a:spcBef>
                <a:spcPts val="0"/>
              </a:spcBef>
              <a:spcAft>
                <a:spcPts val="0"/>
              </a:spcAft>
              <a:buNone/>
            </a:pPr>
            <a:r>
              <a:rPr lang="fr"/>
              <a:t>The important thing of this method is the HIPPO matrix theory, that makes it so you can capture ver long range dependencies, and the theory is that state space also works like convolutions but instead you have a very big kernel</a:t>
            </a:r>
            <a:endParaRPr/>
          </a:p>
          <a:p>
            <a:pPr marL="0" lvl="0" indent="0" algn="l" rtl="0">
              <a:spcBef>
                <a:spcPts val="0"/>
              </a:spcBef>
              <a:spcAft>
                <a:spcPts val="0"/>
              </a:spcAft>
              <a:buNone/>
            </a:pPr>
            <a:endParaRPr/>
          </a:p>
          <a:p>
            <a:pPr marL="457200" lvl="0" indent="-311150" algn="l" rtl="0">
              <a:spcBef>
                <a:spcPts val="0"/>
              </a:spcBef>
              <a:spcAft>
                <a:spcPts val="0"/>
              </a:spcAft>
              <a:buSzPts val="1300"/>
              <a:buChar char="-"/>
            </a:pPr>
            <a:r>
              <a:rPr lang="fr" sz="1300"/>
              <a:t>This model uses Structured State Space layers—S4—to capture long-range temporal dependencies, which is critical for detecting seizures that unfold over extended durations. Each EEG channel is processed independently with a single S4 layer. These layers rely on a HiPPO matrix, which maintains a compressed and structured memory of past inputs, enabling efficient modeling of long sequences. After temporal processing, outputs are mean-pooled over time for each channel, then averaged across channels to form a global representation. This final embedding is passed into a classifier for seizure prediction.</a:t>
            </a:r>
            <a:endParaRPr sz="1300"/>
          </a:p>
        </p:txBody>
      </p:sp>
      <p:sp>
        <p:nvSpPr>
          <p:cNvPr id="210" name="Google Shape;210;g36805c0869a_0_7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805c0869a_0_60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2-3min</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fr"/>
              <a:t>In this approach, each node in the graph represents an EEG electrode, with features derived from the frequency domain using FFT. Temporal information isn't explicitly modeled—instead, a Graph Neural Network, specifically a Graph Attention Network, is used to capture spatial dependencies between electrodes. The attention mechanism helps the model focus on the most relevant electrode interactions. The resulting spatial embeddings are then passed to a classifier for seizure prediction.</a:t>
            </a:r>
            <a:endParaRPr/>
          </a:p>
        </p:txBody>
      </p:sp>
      <p:sp>
        <p:nvSpPr>
          <p:cNvPr id="221" name="Google Shape;221;g36805c0869a_0_6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6805c0869a_0_82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2-3min</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fr"/>
              <a:t>This model combines temporal and spatial modeling in sequence. A three-layer BiLSTM processes each EEG channel individually, capturing temporal dynamics in both forward and backward directions. The resulting temporal embeddings are then passed into a three-layer GNN—which could be a GCN, GAT, or Graph Transformer—to capture spatial dependencies by aggregating information from neighboring electrodes. Residual connections are used throughout the GNN. The final graph-level embedding is obtained via pooling and fed into a classifier to predict seizure activity.</a:t>
            </a:r>
            <a:endParaRPr/>
          </a:p>
        </p:txBody>
      </p:sp>
      <p:sp>
        <p:nvSpPr>
          <p:cNvPr id="232" name="Google Shape;232;g36805c0869a_0_8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684d45a982_1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Andres</a:t>
            </a:r>
            <a:endParaRPr/>
          </a:p>
          <a:p>
            <a:pPr marL="0" lvl="0" indent="0" algn="l" rtl="0">
              <a:spcBef>
                <a:spcPts val="0"/>
              </a:spcBef>
              <a:spcAft>
                <a:spcPts val="0"/>
              </a:spcAft>
              <a:buNone/>
            </a:pPr>
            <a:r>
              <a:rPr lang="fr"/>
              <a:t>30 seconds each method</a:t>
            </a:r>
            <a:endParaRPr/>
          </a:p>
          <a:p>
            <a:pPr marL="0" lvl="0" indent="0" algn="l" rtl="0">
              <a:spcBef>
                <a:spcPts val="0"/>
              </a:spcBef>
              <a:spcAft>
                <a:spcPts val="0"/>
              </a:spcAft>
              <a:buNone/>
            </a:pPr>
            <a:endParaRPr sz="1400"/>
          </a:p>
          <a:p>
            <a:pPr marL="0" lvl="0" indent="0" algn="l" rtl="0">
              <a:spcBef>
                <a:spcPts val="0"/>
              </a:spcBef>
              <a:spcAft>
                <a:spcPts val="0"/>
              </a:spcAft>
              <a:buNone/>
            </a:pPr>
            <a:r>
              <a:rPr lang="fr" sz="1400"/>
              <a:t>In this approach, we reverse the typical LSTM-GNN pipeline. Instead of using LSTM first, we have the data at each time step that are processed by separate GNN’s. Then these spatial embeddings are then stacked over time and passed into a three-layer LSTM to model temporal dynamics. The last hidden state is fed into a classifier to predict the seizure. We tested four variants: GCN and GAT models with either one or two layers, all combined with the same LSTM configuration.</a:t>
            </a:r>
            <a:endParaRPr sz="1400"/>
          </a:p>
        </p:txBody>
      </p:sp>
      <p:sp>
        <p:nvSpPr>
          <p:cNvPr id="248" name="Google Shape;248;g3684d45a982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684d45a982_1_1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2-3min</a:t>
            </a:r>
            <a:endParaRPr/>
          </a:p>
          <a:p>
            <a:pPr marL="0" lvl="0" indent="0" algn="l" rtl="0">
              <a:spcBef>
                <a:spcPts val="0"/>
              </a:spcBef>
              <a:spcAft>
                <a:spcPts val="0"/>
              </a:spcAft>
              <a:buNone/>
            </a:pPr>
            <a:endParaRPr sz="1400"/>
          </a:p>
          <a:p>
            <a:pPr marL="0" lvl="0" indent="0" algn="l" rtl="0">
              <a:spcBef>
                <a:spcPts val="0"/>
              </a:spcBef>
              <a:spcAft>
                <a:spcPts val="0"/>
              </a:spcAft>
              <a:buNone/>
            </a:pPr>
            <a:r>
              <a:rPr lang="fr" sz="1400"/>
              <a:t>This model uses a diffusion process to represent spatial relationships between electrodes, modeled as a bidirectional random walk on a graph with 2 diffusion steps. Then it captures temporal patterns using GRUs, but replaces matrix multiplications with diffusion convolutions. The architecture stacks several diffusion convolutional GRU layers, and the final output is passed to a classifier. We implemented two graph variants: one based on physical distance between EEG sensors, and another based on signal correlation to capture functional brain connectivity.</a:t>
            </a:r>
            <a:endParaRPr sz="1400"/>
          </a:p>
        </p:txBody>
      </p:sp>
      <p:sp>
        <p:nvSpPr>
          <p:cNvPr id="275" name="Google Shape;275;g3684d45a982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6805c0869a_0_85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70000"/>
              </a:lnSpc>
              <a:spcBef>
                <a:spcPts val="750"/>
              </a:spcBef>
              <a:spcAft>
                <a:spcPts val="0"/>
              </a:spcAft>
              <a:buNone/>
            </a:pPr>
            <a:r>
              <a:rPr lang="fr" sz="1404">
                <a:solidFill>
                  <a:srgbClr val="0D1117"/>
                </a:solidFill>
              </a:rPr>
              <a:t>STGCN is a model that can jointly model spatial and temporal patterns in time series. Spatial dependencies between electrodes are captured using graph convolutions using first-order spectral approximation, which reduces parameters and has k-hop aggregation through depth. Temporal features are modeled using </a:t>
            </a:r>
            <a:r>
              <a:rPr lang="fr" sz="1404" i="1">
                <a:solidFill>
                  <a:srgbClr val="0D1117"/>
                </a:solidFill>
              </a:rPr>
              <a:t>gated 1D convolutions</a:t>
            </a:r>
            <a:r>
              <a:rPr lang="fr" sz="1404">
                <a:solidFill>
                  <a:srgbClr val="0D1117"/>
                </a:solidFill>
              </a:rPr>
              <a:t> applied independently to each electrode over time. For classification head, we tested two pooling strategies before the dense layers: one using adaptive average pooling 2D, and the other using “softmax attention”-based pooling on the node and sequence dimensions, both followed by fully connected layers for seizure detection (and we found Adaptive average pooling was better by a small difference).</a:t>
            </a:r>
            <a:endParaRPr sz="1404">
              <a:solidFill>
                <a:srgbClr val="0D1117"/>
              </a:solidFill>
            </a:endParaRPr>
          </a:p>
          <a:p>
            <a:pPr marL="0" lvl="0" indent="0" algn="l" rtl="0">
              <a:lnSpc>
                <a:spcPct val="70000"/>
              </a:lnSpc>
              <a:spcBef>
                <a:spcPts val="750"/>
              </a:spcBef>
              <a:spcAft>
                <a:spcPts val="0"/>
              </a:spcAft>
              <a:buNone/>
            </a:pPr>
            <a:endParaRPr sz="1404">
              <a:solidFill>
                <a:srgbClr val="413C3A"/>
              </a:solidFill>
            </a:endParaRPr>
          </a:p>
          <a:p>
            <a:pPr marL="457200" lvl="0" indent="-300495" algn="l" rtl="0">
              <a:lnSpc>
                <a:spcPct val="70000"/>
              </a:lnSpc>
              <a:spcBef>
                <a:spcPts val="750"/>
              </a:spcBef>
              <a:spcAft>
                <a:spcPts val="0"/>
              </a:spcAft>
              <a:buClr>
                <a:srgbClr val="E30613"/>
              </a:buClr>
              <a:buSzPts val="1132"/>
              <a:buFont typeface="Noto Sans Symbols"/>
              <a:buChar char="-"/>
            </a:pPr>
            <a:r>
              <a:rPr lang="fr" sz="1404">
                <a:solidFill>
                  <a:srgbClr val="413C3A"/>
                </a:solidFill>
              </a:rPr>
              <a:t>The</a:t>
            </a:r>
            <a:r>
              <a:rPr lang="fr" sz="1404" b="1">
                <a:solidFill>
                  <a:srgbClr val="413C3A"/>
                </a:solidFill>
              </a:rPr>
              <a:t> STGCN</a:t>
            </a:r>
            <a:r>
              <a:rPr lang="fr" sz="1404">
                <a:solidFill>
                  <a:srgbClr val="413C3A"/>
                </a:solidFill>
              </a:rPr>
              <a:t> captures both spatial relations (between electrodes) and temporal signal evolution using graph and temporal convolutions.</a:t>
            </a:r>
            <a:br>
              <a:rPr lang="fr" sz="1404">
                <a:solidFill>
                  <a:srgbClr val="413C3A"/>
                </a:solidFill>
              </a:rPr>
            </a:br>
            <a:endParaRPr sz="1404">
              <a:solidFill>
                <a:srgbClr val="413C3A"/>
              </a:solidFill>
            </a:endParaRPr>
          </a:p>
          <a:p>
            <a:pPr marL="457200" lvl="0" indent="-300495" algn="l" rtl="0">
              <a:lnSpc>
                <a:spcPct val="70000"/>
              </a:lnSpc>
              <a:spcBef>
                <a:spcPts val="0"/>
              </a:spcBef>
              <a:spcAft>
                <a:spcPts val="0"/>
              </a:spcAft>
              <a:buClr>
                <a:srgbClr val="E30613"/>
              </a:buClr>
              <a:buSzPts val="1132"/>
              <a:buFont typeface="Noto Sans Symbols"/>
              <a:buChar char="-"/>
            </a:pPr>
            <a:r>
              <a:rPr lang="fr" sz="1404" b="1">
                <a:solidFill>
                  <a:srgbClr val="413C3A"/>
                </a:solidFill>
              </a:rPr>
              <a:t>Spatial dependencies</a:t>
            </a:r>
            <a:r>
              <a:rPr lang="fr" sz="1404">
                <a:solidFill>
                  <a:srgbClr val="413C3A"/>
                </a:solidFill>
              </a:rPr>
              <a:t> are modeled via graph convolutions using first-order spectral approximation with the normalized Laplacian, reducing parameterization and using depth for k-hop, while gated 1D convolutions are used to </a:t>
            </a:r>
            <a:r>
              <a:rPr lang="fr" sz="1404" b="1">
                <a:solidFill>
                  <a:srgbClr val="413C3A"/>
                </a:solidFill>
              </a:rPr>
              <a:t>capture dynamic temporal patterns</a:t>
            </a:r>
            <a:r>
              <a:rPr lang="fr" sz="1404">
                <a:solidFill>
                  <a:srgbClr val="413C3A"/>
                </a:solidFill>
              </a:rPr>
              <a:t> per electrode.</a:t>
            </a:r>
            <a:br>
              <a:rPr lang="fr" sz="1404">
                <a:solidFill>
                  <a:srgbClr val="413C3A"/>
                </a:solidFill>
              </a:rPr>
            </a:br>
            <a:endParaRPr sz="1404">
              <a:solidFill>
                <a:srgbClr val="413C3A"/>
              </a:solidFill>
            </a:endParaRPr>
          </a:p>
          <a:p>
            <a:pPr marL="457200" lvl="0" indent="-300495" algn="l" rtl="0">
              <a:lnSpc>
                <a:spcPct val="70000"/>
              </a:lnSpc>
              <a:spcBef>
                <a:spcPts val="0"/>
              </a:spcBef>
              <a:spcAft>
                <a:spcPts val="0"/>
              </a:spcAft>
              <a:buClr>
                <a:srgbClr val="E30613"/>
              </a:buClr>
              <a:buSzPts val="1132"/>
              <a:buFont typeface="Noto Sans Symbols"/>
              <a:buChar char="-"/>
            </a:pPr>
            <a:r>
              <a:rPr lang="fr" sz="1404">
                <a:solidFill>
                  <a:srgbClr val="413C3A"/>
                </a:solidFill>
              </a:rPr>
              <a:t>For the </a:t>
            </a:r>
            <a:r>
              <a:rPr lang="fr" sz="1404" b="1">
                <a:solidFill>
                  <a:srgbClr val="413C3A"/>
                </a:solidFill>
              </a:rPr>
              <a:t>seizure detection head, two variants were tested</a:t>
            </a:r>
            <a:r>
              <a:rPr lang="fr" sz="1404">
                <a:solidFill>
                  <a:srgbClr val="413C3A"/>
                </a:solidFill>
              </a:rPr>
              <a:t>: one with Adaptive Average Pooling and another with attention-based pooling, both followed by two ReLU-activated dense layers and a dense layer head for the binary output.</a:t>
            </a:r>
            <a:endParaRPr sz="1404">
              <a:solidFill>
                <a:srgbClr val="413C3A"/>
              </a:solidFill>
            </a:endParaRPr>
          </a:p>
          <a:p>
            <a:pPr marL="0" lvl="0" indent="0" algn="l" rtl="0">
              <a:lnSpc>
                <a:spcPct val="70000"/>
              </a:lnSpc>
              <a:spcBef>
                <a:spcPts val="750"/>
              </a:spcBef>
              <a:spcAft>
                <a:spcPts val="0"/>
              </a:spcAft>
              <a:buNone/>
            </a:pPr>
            <a:endParaRPr sz="1404">
              <a:solidFill>
                <a:srgbClr val="413C3A"/>
              </a:solidFill>
            </a:endParaRPr>
          </a:p>
          <a:p>
            <a:pPr marL="0" lvl="0" indent="0" algn="l" rtl="0">
              <a:spcBef>
                <a:spcPts val="0"/>
              </a:spcBef>
              <a:spcAft>
                <a:spcPts val="0"/>
              </a:spcAft>
              <a:buNone/>
            </a:pPr>
            <a:endParaRPr sz="1404">
              <a:solidFill>
                <a:srgbClr val="413C3A"/>
              </a:solidFill>
            </a:endParaRPr>
          </a:p>
        </p:txBody>
      </p:sp>
      <p:sp>
        <p:nvSpPr>
          <p:cNvPr id="286" name="Google Shape;286;g36805c0869a_0_8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91c4f5fd0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2-3min</a:t>
            </a:r>
            <a:endParaRPr/>
          </a:p>
          <a:p>
            <a:pPr marL="0" lvl="0" indent="0" algn="l" rtl="0">
              <a:spcBef>
                <a:spcPts val="0"/>
              </a:spcBef>
              <a:spcAft>
                <a:spcPts val="0"/>
              </a:spcAft>
              <a:buNone/>
            </a:pPr>
            <a:endParaRPr/>
          </a:p>
          <a:p>
            <a:pPr marL="0" lvl="0" indent="0" algn="l" rtl="0">
              <a:spcBef>
                <a:spcPts val="0"/>
              </a:spcBef>
              <a:spcAft>
                <a:spcPts val="0"/>
              </a:spcAft>
              <a:buNone/>
            </a:pPr>
            <a:r>
              <a:rPr lang="fr" sz="1400"/>
              <a:t>This model combines the great ability of S4 for long-range temporal modeling with a graph neural network to capture spatial dependencies across electrodes. Each EEG channel is first processed through a single S4 layer to extract temporal features. These are then passed into either a GCN or GAT module to model spatial relationships. The S4-GCN uses two GCN layers with residual connections and graph normalization, while the S4-GAT uses three GAT layers with four attention heads and also residual connections. The final embeddings are pooled and fed into a classifier for seizure prediction.</a:t>
            </a:r>
            <a:endParaRPr sz="1400"/>
          </a:p>
        </p:txBody>
      </p:sp>
      <p:sp>
        <p:nvSpPr>
          <p:cNvPr id="297" name="Google Shape;297;g3691c4f5fd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805c0869a_0_61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1 min</a:t>
            </a:r>
            <a:endParaRPr/>
          </a:p>
        </p:txBody>
      </p:sp>
      <p:sp>
        <p:nvSpPr>
          <p:cNvPr id="313" name="Google Shape;313;g36805c0869a_0_6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6805c0869a_0_61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1min</a:t>
            </a:r>
            <a:endParaRPr/>
          </a:p>
        </p:txBody>
      </p:sp>
      <p:sp>
        <p:nvSpPr>
          <p:cNvPr id="323" name="Google Shape;323;g36805c0869a_0_6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6805c0869a_0_62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20-30 seconds</a:t>
            </a:r>
            <a:endParaRPr/>
          </a:p>
        </p:txBody>
      </p:sp>
      <p:sp>
        <p:nvSpPr>
          <p:cNvPr id="332" name="Google Shape;332;g36805c0869a_0_6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6805c0869a_0_65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g36805c0869a_0_6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Diapositive de titre">
  <p:cSld name="Diapositive de titre">
    <p:spTree>
      <p:nvGrpSpPr>
        <p:cNvPr id="1" name="Shape 58"/>
        <p:cNvGrpSpPr/>
        <p:nvPr/>
      </p:nvGrpSpPr>
      <p:grpSpPr>
        <a:xfrm>
          <a:off x="0" y="0"/>
          <a:ext cx="0" cy="0"/>
          <a:chOff x="0" y="0"/>
          <a:chExt cx="0" cy="0"/>
        </a:xfrm>
      </p:grpSpPr>
      <p:sp>
        <p:nvSpPr>
          <p:cNvPr id="59" name="Google Shape;59;p14"/>
          <p:cNvSpPr>
            <a:spLocks noGrp="1"/>
          </p:cNvSpPr>
          <p:nvPr>
            <p:ph type="pic" idx="2"/>
          </p:nvPr>
        </p:nvSpPr>
        <p:spPr>
          <a:xfrm>
            <a:off x="1331913" y="0"/>
            <a:ext cx="7812000" cy="4948200"/>
          </a:xfrm>
          <a:prstGeom prst="rect">
            <a:avLst/>
          </a:prstGeom>
          <a:noFill/>
          <a:ln>
            <a:noFill/>
          </a:ln>
        </p:spPr>
      </p:sp>
      <p:sp>
        <p:nvSpPr>
          <p:cNvPr id="60" name="Google Shape;60;p14"/>
          <p:cNvSpPr txBox="1">
            <a:spLocks noGrp="1"/>
          </p:cNvSpPr>
          <p:nvPr>
            <p:ph type="ctrTitle"/>
          </p:nvPr>
        </p:nvSpPr>
        <p:spPr>
          <a:xfrm>
            <a:off x="6405563" y="786535"/>
            <a:ext cx="2738400" cy="2338500"/>
          </a:xfrm>
          <a:prstGeom prst="rect">
            <a:avLst/>
          </a:prstGeom>
          <a:solidFill>
            <a:schemeClr val="accent1"/>
          </a:solidFill>
          <a:ln>
            <a:noFill/>
          </a:ln>
        </p:spPr>
        <p:txBody>
          <a:bodyPr spcFirstLastPara="1" wrap="square" lIns="216000" tIns="0" rIns="72000" bIns="46800" anchor="ctr" anchorCtr="0">
            <a:normAutofit/>
          </a:bodyPr>
          <a:lstStyle>
            <a:lvl1pPr lvl="0" algn="l">
              <a:lnSpc>
                <a:spcPct val="90000"/>
              </a:lnSpc>
              <a:spcBef>
                <a:spcPts val="0"/>
              </a:spcBef>
              <a:spcAft>
                <a:spcPts val="0"/>
              </a:spcAft>
              <a:buClr>
                <a:schemeClr val="lt1"/>
              </a:buClr>
              <a:buSzPts val="3600"/>
              <a:buFont typeface="Libre Frankli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4"/>
          <p:cNvSpPr txBox="1">
            <a:spLocks noGrp="1"/>
          </p:cNvSpPr>
          <p:nvPr>
            <p:ph type="subTitle" idx="1"/>
          </p:nvPr>
        </p:nvSpPr>
        <p:spPr>
          <a:xfrm>
            <a:off x="4576763" y="3124922"/>
            <a:ext cx="1828800" cy="1568400"/>
          </a:xfrm>
          <a:prstGeom prst="rect">
            <a:avLst/>
          </a:prstGeom>
          <a:solidFill>
            <a:schemeClr val="dk1"/>
          </a:solidFill>
          <a:ln>
            <a:noFill/>
          </a:ln>
        </p:spPr>
        <p:txBody>
          <a:bodyPr spcFirstLastPara="1" wrap="square" lIns="90000" tIns="45700" rIns="91425" bIns="45700" anchor="ctr" anchorCtr="0">
            <a:normAutofit/>
          </a:bodyPr>
          <a:lstStyle>
            <a:lvl1pPr lvl="0" algn="ctr">
              <a:lnSpc>
                <a:spcPct val="90000"/>
              </a:lnSpc>
              <a:spcBef>
                <a:spcPts val="750"/>
              </a:spcBef>
              <a:spcAft>
                <a:spcPts val="0"/>
              </a:spcAft>
              <a:buSzPts val="1080"/>
              <a:buNone/>
              <a:defRPr sz="1200">
                <a:solidFill>
                  <a:schemeClr val="lt1"/>
                </a:solidFil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Clr>
                <a:schemeClr val="dk1"/>
              </a:buClr>
              <a:buSzPts val="1215"/>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62" name="Google Shape;62;p14"/>
          <p:cNvPicPr preferRelativeResize="0"/>
          <p:nvPr/>
        </p:nvPicPr>
        <p:blipFill rotWithShape="1">
          <a:blip r:embed="rId2">
            <a:alphaModFix/>
          </a:blip>
          <a:srcRect/>
          <a:stretch/>
        </p:blipFill>
        <p:spPr>
          <a:xfrm>
            <a:off x="82647" y="80283"/>
            <a:ext cx="1175300" cy="508654"/>
          </a:xfrm>
          <a:prstGeom prst="rect">
            <a:avLst/>
          </a:prstGeom>
          <a:noFill/>
          <a:ln>
            <a:noFill/>
          </a:ln>
        </p:spPr>
      </p:pic>
      <p:sp>
        <p:nvSpPr>
          <p:cNvPr id="63" name="Google Shape;63;p14"/>
          <p:cNvSpPr txBox="1">
            <a:spLocks noGrp="1"/>
          </p:cNvSpPr>
          <p:nvPr>
            <p:ph type="body" idx="3"/>
          </p:nvPr>
        </p:nvSpPr>
        <p:spPr>
          <a:xfrm>
            <a:off x="6400800" y="4683125"/>
            <a:ext cx="1828800" cy="460500"/>
          </a:xfrm>
          <a:prstGeom prst="rect">
            <a:avLst/>
          </a:prstGeom>
          <a:solidFill>
            <a:schemeClr val="lt1"/>
          </a:solidFill>
          <a:ln>
            <a:noFill/>
          </a:ln>
        </p:spPr>
        <p:txBody>
          <a:bodyPr spcFirstLastPara="1" wrap="square" lIns="90000" tIns="45700" rIns="91425" bIns="45700" anchor="ctr" anchorCtr="0">
            <a:noAutofit/>
          </a:bodyPr>
          <a:lstStyle>
            <a:lvl1pPr marL="457200" lvl="0" indent="-228600" algn="ctr">
              <a:lnSpc>
                <a:spcPct val="90000"/>
              </a:lnSpc>
              <a:spcBef>
                <a:spcPts val="750"/>
              </a:spcBef>
              <a:spcAft>
                <a:spcPts val="0"/>
              </a:spcAft>
              <a:buSzPts val="990"/>
              <a:buNone/>
              <a:defRPr sz="1100"/>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4" name="Google Shape;64;p14"/>
          <p:cNvSpPr txBox="1">
            <a:spLocks noGrp="1"/>
          </p:cNvSpPr>
          <p:nvPr>
            <p:ph type="body" idx="4"/>
          </p:nvPr>
        </p:nvSpPr>
        <p:spPr>
          <a:xfrm>
            <a:off x="82550" y="4440264"/>
            <a:ext cx="698400" cy="507900"/>
          </a:xfrm>
          <a:prstGeom prst="rect">
            <a:avLst/>
          </a:prstGeom>
          <a:noFill/>
          <a:ln>
            <a:noFill/>
          </a:ln>
        </p:spPr>
        <p:txBody>
          <a:bodyPr spcFirstLastPara="1" wrap="square" lIns="0" tIns="0" rIns="0" bIns="0" anchor="b" anchorCtr="0">
            <a:noAutofit/>
          </a:bodyPr>
          <a:lstStyle>
            <a:lvl1pPr marL="457200" lvl="0" indent="-268605" algn="l">
              <a:lnSpc>
                <a:spcPct val="90000"/>
              </a:lnSpc>
              <a:spcBef>
                <a:spcPts val="750"/>
              </a:spcBef>
              <a:spcAft>
                <a:spcPts val="0"/>
              </a:spcAft>
              <a:buSzPts val="630"/>
              <a:buFont typeface="Arial"/>
              <a:buChar char="•"/>
              <a:defRPr sz="700">
                <a:solidFill>
                  <a:schemeClr val="dk1"/>
                </a:solidFill>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126">
          <p15:clr>
            <a:srgbClr val="FBAE40"/>
          </p15:clr>
        </p15:guide>
        <p15:guide id="4" orient="horz" pos="123">
          <p15:clr>
            <a:srgbClr val="FBAE40"/>
          </p15:clr>
        </p15:guide>
        <p15:guide id="5" orient="horz" pos="3117">
          <p15:clr>
            <a:srgbClr val="FBAE40"/>
          </p15:clr>
        </p15:guide>
        <p15:guide id="6" pos="83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de section">
  <p:cSld name="Titre de section">
    <p:spTree>
      <p:nvGrpSpPr>
        <p:cNvPr id="1" name="Shape 65"/>
        <p:cNvGrpSpPr/>
        <p:nvPr/>
      </p:nvGrpSpPr>
      <p:grpSpPr>
        <a:xfrm>
          <a:off x="0" y="0"/>
          <a:ext cx="0" cy="0"/>
          <a:chOff x="0" y="0"/>
          <a:chExt cx="0" cy="0"/>
        </a:xfrm>
      </p:grpSpPr>
      <p:sp>
        <p:nvSpPr>
          <p:cNvPr id="66" name="Google Shape;66;p15"/>
          <p:cNvSpPr/>
          <p:nvPr/>
        </p:nvSpPr>
        <p:spPr>
          <a:xfrm>
            <a:off x="4572000" y="0"/>
            <a:ext cx="4572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67" name="Google Shape;67;p15"/>
          <p:cNvSpPr txBox="1">
            <a:spLocks noGrp="1"/>
          </p:cNvSpPr>
          <p:nvPr>
            <p:ph type="title"/>
          </p:nvPr>
        </p:nvSpPr>
        <p:spPr>
          <a:xfrm>
            <a:off x="4572000" y="777875"/>
            <a:ext cx="4059000" cy="1794000"/>
          </a:xfrm>
          <a:prstGeom prst="rect">
            <a:avLst/>
          </a:prstGeom>
          <a:noFill/>
          <a:ln>
            <a:noFill/>
          </a:ln>
        </p:spPr>
        <p:txBody>
          <a:bodyPr spcFirstLastPara="1" wrap="square" lIns="180000" tIns="0" rIns="72000" bIns="46800" anchor="ctr" anchorCtr="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5"/>
          <p:cNvSpPr txBox="1">
            <a:spLocks noGrp="1"/>
          </p:cNvSpPr>
          <p:nvPr>
            <p:ph type="body" idx="1"/>
          </p:nvPr>
        </p:nvSpPr>
        <p:spPr>
          <a:xfrm>
            <a:off x="4572000" y="2571750"/>
            <a:ext cx="4059000" cy="2156400"/>
          </a:xfrm>
          <a:prstGeom prst="rect">
            <a:avLst/>
          </a:prstGeom>
          <a:noFill/>
          <a:ln>
            <a:noFill/>
          </a:ln>
        </p:spPr>
        <p:txBody>
          <a:bodyPr spcFirstLastPara="1" wrap="square" lIns="180000" tIns="45700" rIns="91425" bIns="45700" anchor="t" anchorCtr="0">
            <a:normAutofit/>
          </a:bodyPr>
          <a:lstStyle>
            <a:lvl1pPr marL="457200" lvl="0" indent="-228600" algn="l">
              <a:lnSpc>
                <a:spcPct val="90000"/>
              </a:lnSpc>
              <a:spcBef>
                <a:spcPts val="750"/>
              </a:spcBef>
              <a:spcAft>
                <a:spcPts val="0"/>
              </a:spcAft>
              <a:buSzPts val="1620"/>
              <a:buNone/>
              <a:defRPr sz="1800">
                <a:solidFill>
                  <a:schemeClr val="lt1"/>
                </a:solidFill>
              </a:defRPr>
            </a:lvl1pPr>
            <a:lvl2pPr marL="914400" lvl="1" indent="-228600" algn="l">
              <a:lnSpc>
                <a:spcPct val="90000"/>
              </a:lnSpc>
              <a:spcBef>
                <a:spcPts val="375"/>
              </a:spcBef>
              <a:spcAft>
                <a:spcPts val="0"/>
              </a:spcAft>
              <a:buSzPts val="1500"/>
              <a:buNone/>
              <a:defRPr sz="1500">
                <a:solidFill>
                  <a:srgbClr val="918F8F"/>
                </a:solidFill>
              </a:defRPr>
            </a:lvl2pPr>
            <a:lvl3pPr marL="1371600" lvl="2" indent="-228600" algn="l">
              <a:lnSpc>
                <a:spcPct val="90000"/>
              </a:lnSpc>
              <a:spcBef>
                <a:spcPts val="375"/>
              </a:spcBef>
              <a:spcAft>
                <a:spcPts val="0"/>
              </a:spcAft>
              <a:buClr>
                <a:srgbClr val="918F8F"/>
              </a:buClr>
              <a:buSzPts val="1215"/>
              <a:buNone/>
              <a:defRPr sz="1350">
                <a:solidFill>
                  <a:srgbClr val="918F8F"/>
                </a:solidFill>
              </a:defRPr>
            </a:lvl3pPr>
            <a:lvl4pPr marL="1828800" lvl="3" indent="-228600" algn="l">
              <a:lnSpc>
                <a:spcPct val="90000"/>
              </a:lnSpc>
              <a:spcBef>
                <a:spcPts val="375"/>
              </a:spcBef>
              <a:spcAft>
                <a:spcPts val="0"/>
              </a:spcAft>
              <a:buClr>
                <a:srgbClr val="918F8F"/>
              </a:buClr>
              <a:buSzPts val="1200"/>
              <a:buNone/>
              <a:defRPr sz="1200">
                <a:solidFill>
                  <a:srgbClr val="918F8F"/>
                </a:solidFill>
              </a:defRPr>
            </a:lvl4pPr>
            <a:lvl5pPr marL="2286000" lvl="4" indent="-228600" algn="l">
              <a:lnSpc>
                <a:spcPct val="90000"/>
              </a:lnSpc>
              <a:spcBef>
                <a:spcPts val="375"/>
              </a:spcBef>
              <a:spcAft>
                <a:spcPts val="0"/>
              </a:spcAft>
              <a:buClr>
                <a:srgbClr val="918F8F"/>
              </a:buClr>
              <a:buSzPts val="1200"/>
              <a:buNone/>
              <a:defRPr sz="1200">
                <a:solidFill>
                  <a:srgbClr val="918F8F"/>
                </a:solidFill>
              </a:defRPr>
            </a:lvl5pPr>
            <a:lvl6pPr marL="2743200" lvl="5" indent="-228600" algn="l">
              <a:lnSpc>
                <a:spcPct val="90000"/>
              </a:lnSpc>
              <a:spcBef>
                <a:spcPts val="375"/>
              </a:spcBef>
              <a:spcAft>
                <a:spcPts val="0"/>
              </a:spcAft>
              <a:buClr>
                <a:srgbClr val="918F8F"/>
              </a:buClr>
              <a:buSzPts val="1200"/>
              <a:buNone/>
              <a:defRPr sz="1200">
                <a:solidFill>
                  <a:srgbClr val="918F8F"/>
                </a:solidFill>
              </a:defRPr>
            </a:lvl6pPr>
            <a:lvl7pPr marL="3200400" lvl="6" indent="-228600" algn="l">
              <a:lnSpc>
                <a:spcPct val="90000"/>
              </a:lnSpc>
              <a:spcBef>
                <a:spcPts val="375"/>
              </a:spcBef>
              <a:spcAft>
                <a:spcPts val="0"/>
              </a:spcAft>
              <a:buClr>
                <a:srgbClr val="918F8F"/>
              </a:buClr>
              <a:buSzPts val="1200"/>
              <a:buNone/>
              <a:defRPr sz="1200">
                <a:solidFill>
                  <a:srgbClr val="918F8F"/>
                </a:solidFill>
              </a:defRPr>
            </a:lvl7pPr>
            <a:lvl8pPr marL="3657600" lvl="7" indent="-228600" algn="l">
              <a:lnSpc>
                <a:spcPct val="90000"/>
              </a:lnSpc>
              <a:spcBef>
                <a:spcPts val="375"/>
              </a:spcBef>
              <a:spcAft>
                <a:spcPts val="0"/>
              </a:spcAft>
              <a:buClr>
                <a:srgbClr val="918F8F"/>
              </a:buClr>
              <a:buSzPts val="1200"/>
              <a:buNone/>
              <a:defRPr sz="1200">
                <a:solidFill>
                  <a:srgbClr val="918F8F"/>
                </a:solidFill>
              </a:defRPr>
            </a:lvl8pPr>
            <a:lvl9pPr marL="4114800" lvl="8" indent="-228600" algn="l">
              <a:lnSpc>
                <a:spcPct val="90000"/>
              </a:lnSpc>
              <a:spcBef>
                <a:spcPts val="375"/>
              </a:spcBef>
              <a:spcAft>
                <a:spcPts val="0"/>
              </a:spcAft>
              <a:buClr>
                <a:srgbClr val="918F8F"/>
              </a:buClr>
              <a:buSzPts val="1200"/>
              <a:buNone/>
              <a:defRPr sz="1200">
                <a:solidFill>
                  <a:srgbClr val="918F8F"/>
                </a:solidFill>
              </a:defRPr>
            </a:lvl9pPr>
          </a:lstStyle>
          <a:p>
            <a:endParaRPr/>
          </a:p>
        </p:txBody>
      </p:sp>
      <p:sp>
        <p:nvSpPr>
          <p:cNvPr id="69" name="Google Shape;69;p15"/>
          <p:cNvSpPr>
            <a:spLocks noGrp="1"/>
          </p:cNvSpPr>
          <p:nvPr>
            <p:ph type="pic" idx="2"/>
          </p:nvPr>
        </p:nvSpPr>
        <p:spPr>
          <a:xfrm>
            <a:off x="904875" y="0"/>
            <a:ext cx="3667200" cy="5143500"/>
          </a:xfrm>
          <a:prstGeom prst="rect">
            <a:avLst/>
          </a:prstGeom>
          <a:noFill/>
          <a:ln>
            <a:noFill/>
          </a:ln>
        </p:spPr>
      </p:sp>
      <p:sp>
        <p:nvSpPr>
          <p:cNvPr id="70" name="Google Shape;70;p15"/>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5"/>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sz="700" b="1" i="0" u="none" strike="noStrike" cap="none">
                <a:solidFill>
                  <a:schemeClr val="lt1"/>
                </a:solidFill>
                <a:latin typeface="Libre Franklin"/>
                <a:ea typeface="Libre Franklin"/>
                <a:cs typeface="Libre Franklin"/>
                <a:sym typeface="Libre Franklin"/>
              </a:defRPr>
            </a:lvl1pPr>
            <a:lvl2pPr marL="0" lvl="1" indent="0" algn="ctr">
              <a:spcBef>
                <a:spcPts val="0"/>
              </a:spcBef>
              <a:buNone/>
              <a:defRPr sz="700" b="1" i="0" u="none" strike="noStrike" cap="none">
                <a:solidFill>
                  <a:schemeClr val="lt1"/>
                </a:solidFill>
                <a:latin typeface="Libre Franklin"/>
                <a:ea typeface="Libre Franklin"/>
                <a:cs typeface="Libre Franklin"/>
                <a:sym typeface="Libre Franklin"/>
              </a:defRPr>
            </a:lvl2pPr>
            <a:lvl3pPr marL="0" lvl="2" indent="0" algn="ctr">
              <a:spcBef>
                <a:spcPts val="0"/>
              </a:spcBef>
              <a:buNone/>
              <a:defRPr sz="700" b="1" i="0" u="none" strike="noStrike" cap="none">
                <a:solidFill>
                  <a:schemeClr val="lt1"/>
                </a:solidFill>
                <a:latin typeface="Libre Franklin"/>
                <a:ea typeface="Libre Franklin"/>
                <a:cs typeface="Libre Franklin"/>
                <a:sym typeface="Libre Franklin"/>
              </a:defRPr>
            </a:lvl3pPr>
            <a:lvl4pPr marL="0" lvl="3" indent="0" algn="ctr">
              <a:spcBef>
                <a:spcPts val="0"/>
              </a:spcBef>
              <a:buNone/>
              <a:defRPr sz="700" b="1" i="0" u="none" strike="noStrike" cap="none">
                <a:solidFill>
                  <a:schemeClr val="lt1"/>
                </a:solidFill>
                <a:latin typeface="Libre Franklin"/>
                <a:ea typeface="Libre Franklin"/>
                <a:cs typeface="Libre Franklin"/>
                <a:sym typeface="Libre Franklin"/>
              </a:defRPr>
            </a:lvl4pPr>
            <a:lvl5pPr marL="0" lvl="4" indent="0" algn="ctr">
              <a:spcBef>
                <a:spcPts val="0"/>
              </a:spcBef>
              <a:buNone/>
              <a:defRPr sz="700" b="1" i="0" u="none" strike="noStrike" cap="none">
                <a:solidFill>
                  <a:schemeClr val="lt1"/>
                </a:solidFill>
                <a:latin typeface="Libre Franklin"/>
                <a:ea typeface="Libre Franklin"/>
                <a:cs typeface="Libre Franklin"/>
                <a:sym typeface="Libre Franklin"/>
              </a:defRPr>
            </a:lvl5pPr>
            <a:lvl6pPr marL="0" lvl="5" indent="0" algn="ctr">
              <a:spcBef>
                <a:spcPts val="0"/>
              </a:spcBef>
              <a:buNone/>
              <a:defRPr sz="700" b="1" i="0" u="none" strike="noStrike" cap="none">
                <a:solidFill>
                  <a:schemeClr val="lt1"/>
                </a:solidFill>
                <a:latin typeface="Libre Franklin"/>
                <a:ea typeface="Libre Franklin"/>
                <a:cs typeface="Libre Franklin"/>
                <a:sym typeface="Libre Franklin"/>
              </a:defRPr>
            </a:lvl6pPr>
            <a:lvl7pPr marL="0" lvl="6" indent="0" algn="ctr">
              <a:spcBef>
                <a:spcPts val="0"/>
              </a:spcBef>
              <a:buNone/>
              <a:defRPr sz="700" b="1" i="0" u="none" strike="noStrike" cap="none">
                <a:solidFill>
                  <a:schemeClr val="lt1"/>
                </a:solidFill>
                <a:latin typeface="Libre Franklin"/>
                <a:ea typeface="Libre Franklin"/>
                <a:cs typeface="Libre Franklin"/>
                <a:sym typeface="Libre Franklin"/>
              </a:defRPr>
            </a:lvl7pPr>
            <a:lvl8pPr marL="0" lvl="7" indent="0" algn="ctr">
              <a:spcBef>
                <a:spcPts val="0"/>
              </a:spcBef>
              <a:buNone/>
              <a:defRPr sz="700" b="1" i="0" u="none" strike="noStrike" cap="none">
                <a:solidFill>
                  <a:schemeClr val="lt1"/>
                </a:solidFill>
                <a:latin typeface="Libre Franklin"/>
                <a:ea typeface="Libre Franklin"/>
                <a:cs typeface="Libre Franklin"/>
                <a:sym typeface="Libre Franklin"/>
              </a:defRPr>
            </a:lvl8pPr>
            <a:lvl9pPr marL="0" lvl="8" indent="0" algn="ctr">
              <a:spcBef>
                <a:spcPts val="0"/>
              </a:spcBef>
              <a:buNone/>
              <a:defRPr sz="700" b="1" i="0" u="none" strike="noStrike" cap="none">
                <a:solidFill>
                  <a:schemeClr val="lt1"/>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Titre de section">
  <p:cSld name="2_Titre de section">
    <p:spTree>
      <p:nvGrpSpPr>
        <p:cNvPr id="1" name="Shape 73"/>
        <p:cNvGrpSpPr/>
        <p:nvPr/>
      </p:nvGrpSpPr>
      <p:grpSpPr>
        <a:xfrm>
          <a:off x="0" y="0"/>
          <a:ext cx="0" cy="0"/>
          <a:chOff x="0" y="0"/>
          <a:chExt cx="0" cy="0"/>
        </a:xfrm>
      </p:grpSpPr>
      <p:sp>
        <p:nvSpPr>
          <p:cNvPr id="74" name="Google Shape;74;p16"/>
          <p:cNvSpPr/>
          <p:nvPr/>
        </p:nvSpPr>
        <p:spPr>
          <a:xfrm>
            <a:off x="4572000" y="0"/>
            <a:ext cx="4572000" cy="51435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75" name="Google Shape;75;p16"/>
          <p:cNvSpPr txBox="1">
            <a:spLocks noGrp="1"/>
          </p:cNvSpPr>
          <p:nvPr>
            <p:ph type="title"/>
          </p:nvPr>
        </p:nvSpPr>
        <p:spPr>
          <a:xfrm>
            <a:off x="4572000" y="777875"/>
            <a:ext cx="4059000" cy="1794000"/>
          </a:xfrm>
          <a:prstGeom prst="rect">
            <a:avLst/>
          </a:prstGeom>
          <a:noFill/>
          <a:ln>
            <a:noFill/>
          </a:ln>
        </p:spPr>
        <p:txBody>
          <a:bodyPr spcFirstLastPara="1" wrap="square" lIns="180000" tIns="0" rIns="72000" bIns="46800" anchor="ctr" anchorCtr="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6"/>
          <p:cNvSpPr txBox="1">
            <a:spLocks noGrp="1"/>
          </p:cNvSpPr>
          <p:nvPr>
            <p:ph type="body" idx="1"/>
          </p:nvPr>
        </p:nvSpPr>
        <p:spPr>
          <a:xfrm>
            <a:off x="4572000" y="2571750"/>
            <a:ext cx="4059000" cy="2156400"/>
          </a:xfrm>
          <a:prstGeom prst="rect">
            <a:avLst/>
          </a:prstGeom>
          <a:noFill/>
          <a:ln>
            <a:noFill/>
          </a:ln>
        </p:spPr>
        <p:txBody>
          <a:bodyPr spcFirstLastPara="1" wrap="square" lIns="180000" tIns="45700" rIns="91425" bIns="45700" anchor="t" anchorCtr="0">
            <a:normAutofit/>
          </a:bodyPr>
          <a:lstStyle>
            <a:lvl1pPr marL="457200" lvl="0" indent="-228600" algn="l">
              <a:lnSpc>
                <a:spcPct val="90000"/>
              </a:lnSpc>
              <a:spcBef>
                <a:spcPts val="750"/>
              </a:spcBef>
              <a:spcAft>
                <a:spcPts val="0"/>
              </a:spcAft>
              <a:buSzPts val="1620"/>
              <a:buNone/>
              <a:defRPr sz="1800">
                <a:solidFill>
                  <a:schemeClr val="lt1"/>
                </a:solidFill>
              </a:defRPr>
            </a:lvl1pPr>
            <a:lvl2pPr marL="914400" lvl="1" indent="-228600" algn="l">
              <a:lnSpc>
                <a:spcPct val="90000"/>
              </a:lnSpc>
              <a:spcBef>
                <a:spcPts val="375"/>
              </a:spcBef>
              <a:spcAft>
                <a:spcPts val="0"/>
              </a:spcAft>
              <a:buSzPts val="1500"/>
              <a:buNone/>
              <a:defRPr sz="1500">
                <a:solidFill>
                  <a:srgbClr val="918F8F"/>
                </a:solidFill>
              </a:defRPr>
            </a:lvl2pPr>
            <a:lvl3pPr marL="1371600" lvl="2" indent="-228600" algn="l">
              <a:lnSpc>
                <a:spcPct val="90000"/>
              </a:lnSpc>
              <a:spcBef>
                <a:spcPts val="375"/>
              </a:spcBef>
              <a:spcAft>
                <a:spcPts val="0"/>
              </a:spcAft>
              <a:buClr>
                <a:srgbClr val="918F8F"/>
              </a:buClr>
              <a:buSzPts val="1215"/>
              <a:buNone/>
              <a:defRPr sz="1350">
                <a:solidFill>
                  <a:srgbClr val="918F8F"/>
                </a:solidFill>
              </a:defRPr>
            </a:lvl3pPr>
            <a:lvl4pPr marL="1828800" lvl="3" indent="-228600" algn="l">
              <a:lnSpc>
                <a:spcPct val="90000"/>
              </a:lnSpc>
              <a:spcBef>
                <a:spcPts val="375"/>
              </a:spcBef>
              <a:spcAft>
                <a:spcPts val="0"/>
              </a:spcAft>
              <a:buClr>
                <a:srgbClr val="918F8F"/>
              </a:buClr>
              <a:buSzPts val="1200"/>
              <a:buNone/>
              <a:defRPr sz="1200">
                <a:solidFill>
                  <a:srgbClr val="918F8F"/>
                </a:solidFill>
              </a:defRPr>
            </a:lvl4pPr>
            <a:lvl5pPr marL="2286000" lvl="4" indent="-228600" algn="l">
              <a:lnSpc>
                <a:spcPct val="90000"/>
              </a:lnSpc>
              <a:spcBef>
                <a:spcPts val="375"/>
              </a:spcBef>
              <a:spcAft>
                <a:spcPts val="0"/>
              </a:spcAft>
              <a:buClr>
                <a:srgbClr val="918F8F"/>
              </a:buClr>
              <a:buSzPts val="1200"/>
              <a:buNone/>
              <a:defRPr sz="1200">
                <a:solidFill>
                  <a:srgbClr val="918F8F"/>
                </a:solidFill>
              </a:defRPr>
            </a:lvl5pPr>
            <a:lvl6pPr marL="2743200" lvl="5" indent="-228600" algn="l">
              <a:lnSpc>
                <a:spcPct val="90000"/>
              </a:lnSpc>
              <a:spcBef>
                <a:spcPts val="375"/>
              </a:spcBef>
              <a:spcAft>
                <a:spcPts val="0"/>
              </a:spcAft>
              <a:buClr>
                <a:srgbClr val="918F8F"/>
              </a:buClr>
              <a:buSzPts val="1200"/>
              <a:buNone/>
              <a:defRPr sz="1200">
                <a:solidFill>
                  <a:srgbClr val="918F8F"/>
                </a:solidFill>
              </a:defRPr>
            </a:lvl6pPr>
            <a:lvl7pPr marL="3200400" lvl="6" indent="-228600" algn="l">
              <a:lnSpc>
                <a:spcPct val="90000"/>
              </a:lnSpc>
              <a:spcBef>
                <a:spcPts val="375"/>
              </a:spcBef>
              <a:spcAft>
                <a:spcPts val="0"/>
              </a:spcAft>
              <a:buClr>
                <a:srgbClr val="918F8F"/>
              </a:buClr>
              <a:buSzPts val="1200"/>
              <a:buNone/>
              <a:defRPr sz="1200">
                <a:solidFill>
                  <a:srgbClr val="918F8F"/>
                </a:solidFill>
              </a:defRPr>
            </a:lvl7pPr>
            <a:lvl8pPr marL="3657600" lvl="7" indent="-228600" algn="l">
              <a:lnSpc>
                <a:spcPct val="90000"/>
              </a:lnSpc>
              <a:spcBef>
                <a:spcPts val="375"/>
              </a:spcBef>
              <a:spcAft>
                <a:spcPts val="0"/>
              </a:spcAft>
              <a:buClr>
                <a:srgbClr val="918F8F"/>
              </a:buClr>
              <a:buSzPts val="1200"/>
              <a:buNone/>
              <a:defRPr sz="1200">
                <a:solidFill>
                  <a:srgbClr val="918F8F"/>
                </a:solidFill>
              </a:defRPr>
            </a:lvl8pPr>
            <a:lvl9pPr marL="4114800" lvl="8" indent="-228600" algn="l">
              <a:lnSpc>
                <a:spcPct val="90000"/>
              </a:lnSpc>
              <a:spcBef>
                <a:spcPts val="375"/>
              </a:spcBef>
              <a:spcAft>
                <a:spcPts val="0"/>
              </a:spcAft>
              <a:buClr>
                <a:srgbClr val="918F8F"/>
              </a:buClr>
              <a:buSzPts val="1200"/>
              <a:buNone/>
              <a:defRPr sz="1200">
                <a:solidFill>
                  <a:srgbClr val="918F8F"/>
                </a:solidFill>
              </a:defRPr>
            </a:lvl9pPr>
          </a:lstStyle>
          <a:p>
            <a:endParaRPr/>
          </a:p>
        </p:txBody>
      </p:sp>
      <p:sp>
        <p:nvSpPr>
          <p:cNvPr id="77" name="Google Shape;77;p16"/>
          <p:cNvSpPr>
            <a:spLocks noGrp="1"/>
          </p:cNvSpPr>
          <p:nvPr>
            <p:ph type="pic" idx="2"/>
          </p:nvPr>
        </p:nvSpPr>
        <p:spPr>
          <a:xfrm>
            <a:off x="904875" y="0"/>
            <a:ext cx="3667200" cy="5143500"/>
          </a:xfrm>
          <a:prstGeom prst="rect">
            <a:avLst/>
          </a:prstGeom>
          <a:noFill/>
          <a:ln>
            <a:noFill/>
          </a:ln>
        </p:spPr>
      </p:sp>
      <p:sp>
        <p:nvSpPr>
          <p:cNvPr id="78" name="Google Shape;78;p16"/>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6"/>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6"/>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sz="700" b="1" i="0" u="none" strike="noStrike" cap="none">
                <a:solidFill>
                  <a:schemeClr val="lt1"/>
                </a:solidFill>
                <a:latin typeface="Libre Franklin"/>
                <a:ea typeface="Libre Franklin"/>
                <a:cs typeface="Libre Franklin"/>
                <a:sym typeface="Libre Franklin"/>
              </a:defRPr>
            </a:lvl1pPr>
            <a:lvl2pPr marL="0" lvl="1" indent="0" algn="ctr">
              <a:spcBef>
                <a:spcPts val="0"/>
              </a:spcBef>
              <a:buNone/>
              <a:defRPr sz="700" b="1" i="0" u="none" strike="noStrike" cap="none">
                <a:solidFill>
                  <a:schemeClr val="lt1"/>
                </a:solidFill>
                <a:latin typeface="Libre Franklin"/>
                <a:ea typeface="Libre Franklin"/>
                <a:cs typeface="Libre Franklin"/>
                <a:sym typeface="Libre Franklin"/>
              </a:defRPr>
            </a:lvl2pPr>
            <a:lvl3pPr marL="0" lvl="2" indent="0" algn="ctr">
              <a:spcBef>
                <a:spcPts val="0"/>
              </a:spcBef>
              <a:buNone/>
              <a:defRPr sz="700" b="1" i="0" u="none" strike="noStrike" cap="none">
                <a:solidFill>
                  <a:schemeClr val="lt1"/>
                </a:solidFill>
                <a:latin typeface="Libre Franklin"/>
                <a:ea typeface="Libre Franklin"/>
                <a:cs typeface="Libre Franklin"/>
                <a:sym typeface="Libre Franklin"/>
              </a:defRPr>
            </a:lvl3pPr>
            <a:lvl4pPr marL="0" lvl="3" indent="0" algn="ctr">
              <a:spcBef>
                <a:spcPts val="0"/>
              </a:spcBef>
              <a:buNone/>
              <a:defRPr sz="700" b="1" i="0" u="none" strike="noStrike" cap="none">
                <a:solidFill>
                  <a:schemeClr val="lt1"/>
                </a:solidFill>
                <a:latin typeface="Libre Franklin"/>
                <a:ea typeface="Libre Franklin"/>
                <a:cs typeface="Libre Franklin"/>
                <a:sym typeface="Libre Franklin"/>
              </a:defRPr>
            </a:lvl4pPr>
            <a:lvl5pPr marL="0" lvl="4" indent="0" algn="ctr">
              <a:spcBef>
                <a:spcPts val="0"/>
              </a:spcBef>
              <a:buNone/>
              <a:defRPr sz="700" b="1" i="0" u="none" strike="noStrike" cap="none">
                <a:solidFill>
                  <a:schemeClr val="lt1"/>
                </a:solidFill>
                <a:latin typeface="Libre Franklin"/>
                <a:ea typeface="Libre Franklin"/>
                <a:cs typeface="Libre Franklin"/>
                <a:sym typeface="Libre Franklin"/>
              </a:defRPr>
            </a:lvl5pPr>
            <a:lvl6pPr marL="0" lvl="5" indent="0" algn="ctr">
              <a:spcBef>
                <a:spcPts val="0"/>
              </a:spcBef>
              <a:buNone/>
              <a:defRPr sz="700" b="1" i="0" u="none" strike="noStrike" cap="none">
                <a:solidFill>
                  <a:schemeClr val="lt1"/>
                </a:solidFill>
                <a:latin typeface="Libre Franklin"/>
                <a:ea typeface="Libre Franklin"/>
                <a:cs typeface="Libre Franklin"/>
                <a:sym typeface="Libre Franklin"/>
              </a:defRPr>
            </a:lvl6pPr>
            <a:lvl7pPr marL="0" lvl="6" indent="0" algn="ctr">
              <a:spcBef>
                <a:spcPts val="0"/>
              </a:spcBef>
              <a:buNone/>
              <a:defRPr sz="700" b="1" i="0" u="none" strike="noStrike" cap="none">
                <a:solidFill>
                  <a:schemeClr val="lt1"/>
                </a:solidFill>
                <a:latin typeface="Libre Franklin"/>
                <a:ea typeface="Libre Franklin"/>
                <a:cs typeface="Libre Franklin"/>
                <a:sym typeface="Libre Franklin"/>
              </a:defRPr>
            </a:lvl7pPr>
            <a:lvl8pPr marL="0" lvl="7" indent="0" algn="ctr">
              <a:spcBef>
                <a:spcPts val="0"/>
              </a:spcBef>
              <a:buNone/>
              <a:defRPr sz="700" b="1" i="0" u="none" strike="noStrike" cap="none">
                <a:solidFill>
                  <a:schemeClr val="lt1"/>
                </a:solidFill>
                <a:latin typeface="Libre Franklin"/>
                <a:ea typeface="Libre Franklin"/>
                <a:cs typeface="Libre Franklin"/>
                <a:sym typeface="Libre Franklin"/>
              </a:defRPr>
            </a:lvl8pPr>
            <a:lvl9pPr marL="0" lvl="8" indent="0" algn="ctr">
              <a:spcBef>
                <a:spcPts val="0"/>
              </a:spcBef>
              <a:buNone/>
              <a:defRPr sz="700" b="1" i="0" u="none" strike="noStrike" cap="none">
                <a:solidFill>
                  <a:schemeClr val="lt1"/>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re de section">
  <p:cSld name="1_Titre de section">
    <p:spTree>
      <p:nvGrpSpPr>
        <p:cNvPr id="1" name="Shape 81"/>
        <p:cNvGrpSpPr/>
        <p:nvPr/>
      </p:nvGrpSpPr>
      <p:grpSpPr>
        <a:xfrm>
          <a:off x="0" y="0"/>
          <a:ext cx="0" cy="0"/>
          <a:chOff x="0" y="0"/>
          <a:chExt cx="0" cy="0"/>
        </a:xfrm>
      </p:grpSpPr>
      <p:sp>
        <p:nvSpPr>
          <p:cNvPr id="82" name="Google Shape;82;p17"/>
          <p:cNvSpPr/>
          <p:nvPr/>
        </p:nvSpPr>
        <p:spPr>
          <a:xfrm>
            <a:off x="4572000" y="0"/>
            <a:ext cx="4572000"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83" name="Google Shape;83;p17"/>
          <p:cNvSpPr txBox="1">
            <a:spLocks noGrp="1"/>
          </p:cNvSpPr>
          <p:nvPr>
            <p:ph type="title"/>
          </p:nvPr>
        </p:nvSpPr>
        <p:spPr>
          <a:xfrm>
            <a:off x="4572000" y="777875"/>
            <a:ext cx="4059000" cy="1794000"/>
          </a:xfrm>
          <a:prstGeom prst="rect">
            <a:avLst/>
          </a:prstGeom>
          <a:noFill/>
          <a:ln>
            <a:noFill/>
          </a:ln>
        </p:spPr>
        <p:txBody>
          <a:bodyPr spcFirstLastPara="1" wrap="square" lIns="180000" tIns="0" rIns="72000" bIns="46800" anchor="ctr" anchorCtr="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7"/>
          <p:cNvSpPr txBox="1">
            <a:spLocks noGrp="1"/>
          </p:cNvSpPr>
          <p:nvPr>
            <p:ph type="body" idx="1"/>
          </p:nvPr>
        </p:nvSpPr>
        <p:spPr>
          <a:xfrm>
            <a:off x="4572000" y="2571750"/>
            <a:ext cx="4059000" cy="2156400"/>
          </a:xfrm>
          <a:prstGeom prst="rect">
            <a:avLst/>
          </a:prstGeom>
          <a:noFill/>
          <a:ln>
            <a:noFill/>
          </a:ln>
        </p:spPr>
        <p:txBody>
          <a:bodyPr spcFirstLastPara="1" wrap="square" lIns="180000" tIns="45700" rIns="91425" bIns="45700" anchor="t" anchorCtr="0">
            <a:normAutofit/>
          </a:bodyPr>
          <a:lstStyle>
            <a:lvl1pPr marL="457200" lvl="0" indent="-228600" algn="l">
              <a:lnSpc>
                <a:spcPct val="90000"/>
              </a:lnSpc>
              <a:spcBef>
                <a:spcPts val="750"/>
              </a:spcBef>
              <a:spcAft>
                <a:spcPts val="0"/>
              </a:spcAft>
              <a:buSzPts val="1620"/>
              <a:buNone/>
              <a:defRPr sz="1800">
                <a:solidFill>
                  <a:schemeClr val="lt1"/>
                </a:solidFill>
              </a:defRPr>
            </a:lvl1pPr>
            <a:lvl2pPr marL="914400" lvl="1" indent="-228600" algn="l">
              <a:lnSpc>
                <a:spcPct val="90000"/>
              </a:lnSpc>
              <a:spcBef>
                <a:spcPts val="375"/>
              </a:spcBef>
              <a:spcAft>
                <a:spcPts val="0"/>
              </a:spcAft>
              <a:buSzPts val="1500"/>
              <a:buNone/>
              <a:defRPr sz="1500">
                <a:solidFill>
                  <a:srgbClr val="918F8F"/>
                </a:solidFill>
              </a:defRPr>
            </a:lvl2pPr>
            <a:lvl3pPr marL="1371600" lvl="2" indent="-228600" algn="l">
              <a:lnSpc>
                <a:spcPct val="90000"/>
              </a:lnSpc>
              <a:spcBef>
                <a:spcPts val="375"/>
              </a:spcBef>
              <a:spcAft>
                <a:spcPts val="0"/>
              </a:spcAft>
              <a:buClr>
                <a:srgbClr val="918F8F"/>
              </a:buClr>
              <a:buSzPts val="1215"/>
              <a:buNone/>
              <a:defRPr sz="1350">
                <a:solidFill>
                  <a:srgbClr val="918F8F"/>
                </a:solidFill>
              </a:defRPr>
            </a:lvl3pPr>
            <a:lvl4pPr marL="1828800" lvl="3" indent="-228600" algn="l">
              <a:lnSpc>
                <a:spcPct val="90000"/>
              </a:lnSpc>
              <a:spcBef>
                <a:spcPts val="375"/>
              </a:spcBef>
              <a:spcAft>
                <a:spcPts val="0"/>
              </a:spcAft>
              <a:buClr>
                <a:srgbClr val="918F8F"/>
              </a:buClr>
              <a:buSzPts val="1200"/>
              <a:buNone/>
              <a:defRPr sz="1200">
                <a:solidFill>
                  <a:srgbClr val="918F8F"/>
                </a:solidFill>
              </a:defRPr>
            </a:lvl4pPr>
            <a:lvl5pPr marL="2286000" lvl="4" indent="-228600" algn="l">
              <a:lnSpc>
                <a:spcPct val="90000"/>
              </a:lnSpc>
              <a:spcBef>
                <a:spcPts val="375"/>
              </a:spcBef>
              <a:spcAft>
                <a:spcPts val="0"/>
              </a:spcAft>
              <a:buClr>
                <a:srgbClr val="918F8F"/>
              </a:buClr>
              <a:buSzPts val="1200"/>
              <a:buNone/>
              <a:defRPr sz="1200">
                <a:solidFill>
                  <a:srgbClr val="918F8F"/>
                </a:solidFill>
              </a:defRPr>
            </a:lvl5pPr>
            <a:lvl6pPr marL="2743200" lvl="5" indent="-228600" algn="l">
              <a:lnSpc>
                <a:spcPct val="90000"/>
              </a:lnSpc>
              <a:spcBef>
                <a:spcPts val="375"/>
              </a:spcBef>
              <a:spcAft>
                <a:spcPts val="0"/>
              </a:spcAft>
              <a:buClr>
                <a:srgbClr val="918F8F"/>
              </a:buClr>
              <a:buSzPts val="1200"/>
              <a:buNone/>
              <a:defRPr sz="1200">
                <a:solidFill>
                  <a:srgbClr val="918F8F"/>
                </a:solidFill>
              </a:defRPr>
            </a:lvl6pPr>
            <a:lvl7pPr marL="3200400" lvl="6" indent="-228600" algn="l">
              <a:lnSpc>
                <a:spcPct val="90000"/>
              </a:lnSpc>
              <a:spcBef>
                <a:spcPts val="375"/>
              </a:spcBef>
              <a:spcAft>
                <a:spcPts val="0"/>
              </a:spcAft>
              <a:buClr>
                <a:srgbClr val="918F8F"/>
              </a:buClr>
              <a:buSzPts val="1200"/>
              <a:buNone/>
              <a:defRPr sz="1200">
                <a:solidFill>
                  <a:srgbClr val="918F8F"/>
                </a:solidFill>
              </a:defRPr>
            </a:lvl7pPr>
            <a:lvl8pPr marL="3657600" lvl="7" indent="-228600" algn="l">
              <a:lnSpc>
                <a:spcPct val="90000"/>
              </a:lnSpc>
              <a:spcBef>
                <a:spcPts val="375"/>
              </a:spcBef>
              <a:spcAft>
                <a:spcPts val="0"/>
              </a:spcAft>
              <a:buClr>
                <a:srgbClr val="918F8F"/>
              </a:buClr>
              <a:buSzPts val="1200"/>
              <a:buNone/>
              <a:defRPr sz="1200">
                <a:solidFill>
                  <a:srgbClr val="918F8F"/>
                </a:solidFill>
              </a:defRPr>
            </a:lvl8pPr>
            <a:lvl9pPr marL="4114800" lvl="8" indent="-228600" algn="l">
              <a:lnSpc>
                <a:spcPct val="90000"/>
              </a:lnSpc>
              <a:spcBef>
                <a:spcPts val="375"/>
              </a:spcBef>
              <a:spcAft>
                <a:spcPts val="0"/>
              </a:spcAft>
              <a:buClr>
                <a:srgbClr val="918F8F"/>
              </a:buClr>
              <a:buSzPts val="1200"/>
              <a:buNone/>
              <a:defRPr sz="1200">
                <a:solidFill>
                  <a:srgbClr val="918F8F"/>
                </a:solidFill>
              </a:defRPr>
            </a:lvl9pPr>
          </a:lstStyle>
          <a:p>
            <a:endParaRPr/>
          </a:p>
        </p:txBody>
      </p:sp>
      <p:sp>
        <p:nvSpPr>
          <p:cNvPr id="85" name="Google Shape;85;p17"/>
          <p:cNvSpPr>
            <a:spLocks noGrp="1"/>
          </p:cNvSpPr>
          <p:nvPr>
            <p:ph type="pic" idx="2"/>
          </p:nvPr>
        </p:nvSpPr>
        <p:spPr>
          <a:xfrm>
            <a:off x="904875" y="0"/>
            <a:ext cx="3667200" cy="5143500"/>
          </a:xfrm>
          <a:prstGeom prst="rect">
            <a:avLst/>
          </a:prstGeom>
          <a:noFill/>
          <a:ln>
            <a:noFill/>
          </a:ln>
        </p:spPr>
      </p:sp>
      <p:sp>
        <p:nvSpPr>
          <p:cNvPr id="86" name="Google Shape;86;p17"/>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7"/>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7"/>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sz="700" b="1" i="0" u="none" strike="noStrike" cap="none">
                <a:solidFill>
                  <a:schemeClr val="lt1"/>
                </a:solidFill>
                <a:latin typeface="Libre Franklin"/>
                <a:ea typeface="Libre Franklin"/>
                <a:cs typeface="Libre Franklin"/>
                <a:sym typeface="Libre Franklin"/>
              </a:defRPr>
            </a:lvl1pPr>
            <a:lvl2pPr marL="0" lvl="1" indent="0" algn="ctr">
              <a:spcBef>
                <a:spcPts val="0"/>
              </a:spcBef>
              <a:buNone/>
              <a:defRPr sz="700" b="1" i="0" u="none" strike="noStrike" cap="none">
                <a:solidFill>
                  <a:schemeClr val="lt1"/>
                </a:solidFill>
                <a:latin typeface="Libre Franklin"/>
                <a:ea typeface="Libre Franklin"/>
                <a:cs typeface="Libre Franklin"/>
                <a:sym typeface="Libre Franklin"/>
              </a:defRPr>
            </a:lvl2pPr>
            <a:lvl3pPr marL="0" lvl="2" indent="0" algn="ctr">
              <a:spcBef>
                <a:spcPts val="0"/>
              </a:spcBef>
              <a:buNone/>
              <a:defRPr sz="700" b="1" i="0" u="none" strike="noStrike" cap="none">
                <a:solidFill>
                  <a:schemeClr val="lt1"/>
                </a:solidFill>
                <a:latin typeface="Libre Franklin"/>
                <a:ea typeface="Libre Franklin"/>
                <a:cs typeface="Libre Franklin"/>
                <a:sym typeface="Libre Franklin"/>
              </a:defRPr>
            </a:lvl3pPr>
            <a:lvl4pPr marL="0" lvl="3" indent="0" algn="ctr">
              <a:spcBef>
                <a:spcPts val="0"/>
              </a:spcBef>
              <a:buNone/>
              <a:defRPr sz="700" b="1" i="0" u="none" strike="noStrike" cap="none">
                <a:solidFill>
                  <a:schemeClr val="lt1"/>
                </a:solidFill>
                <a:latin typeface="Libre Franklin"/>
                <a:ea typeface="Libre Franklin"/>
                <a:cs typeface="Libre Franklin"/>
                <a:sym typeface="Libre Franklin"/>
              </a:defRPr>
            </a:lvl4pPr>
            <a:lvl5pPr marL="0" lvl="4" indent="0" algn="ctr">
              <a:spcBef>
                <a:spcPts val="0"/>
              </a:spcBef>
              <a:buNone/>
              <a:defRPr sz="700" b="1" i="0" u="none" strike="noStrike" cap="none">
                <a:solidFill>
                  <a:schemeClr val="lt1"/>
                </a:solidFill>
                <a:latin typeface="Libre Franklin"/>
                <a:ea typeface="Libre Franklin"/>
                <a:cs typeface="Libre Franklin"/>
                <a:sym typeface="Libre Franklin"/>
              </a:defRPr>
            </a:lvl5pPr>
            <a:lvl6pPr marL="0" lvl="5" indent="0" algn="ctr">
              <a:spcBef>
                <a:spcPts val="0"/>
              </a:spcBef>
              <a:buNone/>
              <a:defRPr sz="700" b="1" i="0" u="none" strike="noStrike" cap="none">
                <a:solidFill>
                  <a:schemeClr val="lt1"/>
                </a:solidFill>
                <a:latin typeface="Libre Franklin"/>
                <a:ea typeface="Libre Franklin"/>
                <a:cs typeface="Libre Franklin"/>
                <a:sym typeface="Libre Franklin"/>
              </a:defRPr>
            </a:lvl6pPr>
            <a:lvl7pPr marL="0" lvl="6" indent="0" algn="ctr">
              <a:spcBef>
                <a:spcPts val="0"/>
              </a:spcBef>
              <a:buNone/>
              <a:defRPr sz="700" b="1" i="0" u="none" strike="noStrike" cap="none">
                <a:solidFill>
                  <a:schemeClr val="lt1"/>
                </a:solidFill>
                <a:latin typeface="Libre Franklin"/>
                <a:ea typeface="Libre Franklin"/>
                <a:cs typeface="Libre Franklin"/>
                <a:sym typeface="Libre Franklin"/>
              </a:defRPr>
            </a:lvl7pPr>
            <a:lvl8pPr marL="0" lvl="7" indent="0" algn="ctr">
              <a:spcBef>
                <a:spcPts val="0"/>
              </a:spcBef>
              <a:buNone/>
              <a:defRPr sz="700" b="1" i="0" u="none" strike="noStrike" cap="none">
                <a:solidFill>
                  <a:schemeClr val="lt1"/>
                </a:solidFill>
                <a:latin typeface="Libre Franklin"/>
                <a:ea typeface="Libre Franklin"/>
                <a:cs typeface="Libre Franklin"/>
                <a:sym typeface="Libre Franklin"/>
              </a:defRPr>
            </a:lvl8pPr>
            <a:lvl9pPr marL="0" lvl="8" indent="0" algn="ctr">
              <a:spcBef>
                <a:spcPts val="0"/>
              </a:spcBef>
              <a:buNone/>
              <a:defRPr sz="700" b="1" i="0" u="none" strike="noStrike" cap="none">
                <a:solidFill>
                  <a:schemeClr val="lt1"/>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89"/>
        <p:cNvGrpSpPr/>
        <p:nvPr/>
      </p:nvGrpSpPr>
      <p:grpSpPr>
        <a:xfrm>
          <a:off x="0" y="0"/>
          <a:ext cx="0" cy="0"/>
          <a:chOff x="0" y="0"/>
          <a:chExt cx="0" cy="0"/>
        </a:xfrm>
      </p:grpSpPr>
      <p:sp>
        <p:nvSpPr>
          <p:cNvPr id="90" name="Google Shape;90;p18"/>
          <p:cNvSpPr txBox="1">
            <a:spLocks noGrp="1"/>
          </p:cNvSpPr>
          <p:nvPr>
            <p:ph type="body" idx="1"/>
          </p:nvPr>
        </p:nvSpPr>
        <p:spPr>
          <a:xfrm>
            <a:off x="904875" y="1563688"/>
            <a:ext cx="7726500" cy="338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1" name="Google Shape;91;p18"/>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8"/>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8"/>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8"/>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re et contenu">
  <p:cSld name="1_Titre et contenu">
    <p:spTree>
      <p:nvGrpSpPr>
        <p:cNvPr id="1" name="Shape 95"/>
        <p:cNvGrpSpPr/>
        <p:nvPr/>
      </p:nvGrpSpPr>
      <p:grpSpPr>
        <a:xfrm>
          <a:off x="0" y="0"/>
          <a:ext cx="0" cy="0"/>
          <a:chOff x="0" y="0"/>
          <a:chExt cx="0" cy="0"/>
        </a:xfrm>
      </p:grpSpPr>
      <p:sp>
        <p:nvSpPr>
          <p:cNvPr id="96" name="Google Shape;96;p19"/>
          <p:cNvSpPr txBox="1">
            <a:spLocks noGrp="1"/>
          </p:cNvSpPr>
          <p:nvPr>
            <p:ph type="body" idx="1"/>
          </p:nvPr>
        </p:nvSpPr>
        <p:spPr>
          <a:xfrm>
            <a:off x="904875" y="1563688"/>
            <a:ext cx="4581600" cy="338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 name="Google Shape;97;p19"/>
          <p:cNvSpPr>
            <a:spLocks noGrp="1"/>
          </p:cNvSpPr>
          <p:nvPr>
            <p:ph type="pic" idx="2"/>
          </p:nvPr>
        </p:nvSpPr>
        <p:spPr>
          <a:xfrm>
            <a:off x="5486400" y="0"/>
            <a:ext cx="3144900" cy="5143500"/>
          </a:xfrm>
          <a:prstGeom prst="rect">
            <a:avLst/>
          </a:prstGeom>
          <a:noFill/>
          <a:ln>
            <a:noFill/>
          </a:ln>
        </p:spPr>
      </p:sp>
      <p:sp>
        <p:nvSpPr>
          <p:cNvPr id="98" name="Google Shape;98;p19"/>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9"/>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9"/>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9"/>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Titre et contenu">
  <p:cSld name="2_Titre et contenu">
    <p:spTree>
      <p:nvGrpSpPr>
        <p:cNvPr id="1" name="Shape 102"/>
        <p:cNvGrpSpPr/>
        <p:nvPr/>
      </p:nvGrpSpPr>
      <p:grpSpPr>
        <a:xfrm>
          <a:off x="0" y="0"/>
          <a:ext cx="0" cy="0"/>
          <a:chOff x="0" y="0"/>
          <a:chExt cx="0" cy="0"/>
        </a:xfrm>
      </p:grpSpPr>
      <p:sp>
        <p:nvSpPr>
          <p:cNvPr id="103" name="Google Shape;103;p20"/>
          <p:cNvSpPr>
            <a:spLocks noGrp="1"/>
          </p:cNvSpPr>
          <p:nvPr>
            <p:ph type="pic" idx="2"/>
          </p:nvPr>
        </p:nvSpPr>
        <p:spPr>
          <a:xfrm>
            <a:off x="904875" y="0"/>
            <a:ext cx="3144900" cy="5143500"/>
          </a:xfrm>
          <a:prstGeom prst="rect">
            <a:avLst/>
          </a:prstGeom>
          <a:noFill/>
          <a:ln>
            <a:noFill/>
          </a:ln>
        </p:spPr>
      </p:sp>
      <p:sp>
        <p:nvSpPr>
          <p:cNvPr id="104" name="Google Shape;104;p20"/>
          <p:cNvSpPr txBox="1">
            <a:spLocks noGrp="1"/>
          </p:cNvSpPr>
          <p:nvPr>
            <p:ph type="body" idx="1"/>
          </p:nvPr>
        </p:nvSpPr>
        <p:spPr>
          <a:xfrm>
            <a:off x="4049395" y="1563688"/>
            <a:ext cx="4581600" cy="338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5" name="Google Shape;105;p20"/>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0"/>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0"/>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
        <p:nvSpPr>
          <p:cNvPr id="108" name="Google Shape;108;p20"/>
          <p:cNvSpPr txBox="1">
            <a:spLocks noGrp="1"/>
          </p:cNvSpPr>
          <p:nvPr>
            <p:ph type="title"/>
          </p:nvPr>
        </p:nvSpPr>
        <p:spPr>
          <a:xfrm>
            <a:off x="904876" y="131032"/>
            <a:ext cx="31446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_Titre et contenu">
  <p:cSld name="4_Titre et contenu">
    <p:spTree>
      <p:nvGrpSpPr>
        <p:cNvPr id="1" name="Shape 109"/>
        <p:cNvGrpSpPr/>
        <p:nvPr/>
      </p:nvGrpSpPr>
      <p:grpSpPr>
        <a:xfrm>
          <a:off x="0" y="0"/>
          <a:ext cx="0" cy="0"/>
          <a:chOff x="0" y="0"/>
          <a:chExt cx="0" cy="0"/>
        </a:xfrm>
      </p:grpSpPr>
      <p:sp>
        <p:nvSpPr>
          <p:cNvPr id="110" name="Google Shape;110;p21"/>
          <p:cNvSpPr>
            <a:spLocks noGrp="1"/>
          </p:cNvSpPr>
          <p:nvPr>
            <p:ph type="pic" idx="2"/>
          </p:nvPr>
        </p:nvSpPr>
        <p:spPr>
          <a:xfrm>
            <a:off x="904875" y="0"/>
            <a:ext cx="3144900" cy="5143500"/>
          </a:xfrm>
          <a:prstGeom prst="rect">
            <a:avLst/>
          </a:prstGeom>
          <a:noFill/>
          <a:ln>
            <a:noFill/>
          </a:ln>
        </p:spPr>
      </p:sp>
      <p:sp>
        <p:nvSpPr>
          <p:cNvPr id="111" name="Google Shape;111;p21"/>
          <p:cNvSpPr txBox="1">
            <a:spLocks noGrp="1"/>
          </p:cNvSpPr>
          <p:nvPr>
            <p:ph type="body" idx="1"/>
          </p:nvPr>
        </p:nvSpPr>
        <p:spPr>
          <a:xfrm>
            <a:off x="4049395" y="1563688"/>
            <a:ext cx="4581600" cy="338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2" name="Google Shape;112;p21"/>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1"/>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1"/>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
        <p:nvSpPr>
          <p:cNvPr id="115" name="Google Shape;115;p21"/>
          <p:cNvSpPr txBox="1">
            <a:spLocks noGrp="1"/>
          </p:cNvSpPr>
          <p:nvPr>
            <p:ph type="title"/>
          </p:nvPr>
        </p:nvSpPr>
        <p:spPr>
          <a:xfrm>
            <a:off x="4049395" y="131032"/>
            <a:ext cx="31446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Titre et contenu">
  <p:cSld name="3_Titre et contenu">
    <p:spTree>
      <p:nvGrpSpPr>
        <p:cNvPr id="1" name="Shape 116"/>
        <p:cNvGrpSpPr/>
        <p:nvPr/>
      </p:nvGrpSpPr>
      <p:grpSpPr>
        <a:xfrm>
          <a:off x="0" y="0"/>
          <a:ext cx="0" cy="0"/>
          <a:chOff x="0" y="0"/>
          <a:chExt cx="0" cy="0"/>
        </a:xfrm>
      </p:grpSpPr>
      <p:sp>
        <p:nvSpPr>
          <p:cNvPr id="117" name="Google Shape;117;p22"/>
          <p:cNvSpPr>
            <a:spLocks noGrp="1"/>
          </p:cNvSpPr>
          <p:nvPr>
            <p:ph type="pic" idx="2"/>
          </p:nvPr>
        </p:nvSpPr>
        <p:spPr>
          <a:xfrm>
            <a:off x="904875" y="1563688"/>
            <a:ext cx="3144900" cy="3579900"/>
          </a:xfrm>
          <a:prstGeom prst="rect">
            <a:avLst/>
          </a:prstGeom>
          <a:noFill/>
          <a:ln>
            <a:noFill/>
          </a:ln>
        </p:spPr>
      </p:sp>
      <p:sp>
        <p:nvSpPr>
          <p:cNvPr id="118" name="Google Shape;118;p22"/>
          <p:cNvSpPr txBox="1">
            <a:spLocks noGrp="1"/>
          </p:cNvSpPr>
          <p:nvPr>
            <p:ph type="body" idx="1"/>
          </p:nvPr>
        </p:nvSpPr>
        <p:spPr>
          <a:xfrm>
            <a:off x="4049395" y="1563688"/>
            <a:ext cx="4581600" cy="338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9" name="Google Shape;119;p22"/>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2"/>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2"/>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2"/>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123"/>
        <p:cNvGrpSpPr/>
        <p:nvPr/>
      </p:nvGrpSpPr>
      <p:grpSpPr>
        <a:xfrm>
          <a:off x="0" y="0"/>
          <a:ext cx="0" cy="0"/>
          <a:chOff x="0" y="0"/>
          <a:chExt cx="0" cy="0"/>
        </a:xfrm>
      </p:grpSpPr>
      <p:sp>
        <p:nvSpPr>
          <p:cNvPr id="124" name="Google Shape;124;p23"/>
          <p:cNvSpPr txBox="1">
            <a:spLocks noGrp="1"/>
          </p:cNvSpPr>
          <p:nvPr>
            <p:ph type="body" idx="1"/>
          </p:nvPr>
        </p:nvSpPr>
        <p:spPr>
          <a:xfrm>
            <a:off x="904875" y="1563688"/>
            <a:ext cx="3671400" cy="32634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5" name="Google Shape;125;p23"/>
          <p:cNvSpPr txBox="1">
            <a:spLocks noGrp="1"/>
          </p:cNvSpPr>
          <p:nvPr>
            <p:ph type="body" idx="2"/>
          </p:nvPr>
        </p:nvSpPr>
        <p:spPr>
          <a:xfrm>
            <a:off x="4959772" y="1563688"/>
            <a:ext cx="3671400" cy="32634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6" name="Google Shape;126;p23"/>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23"/>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3"/>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3"/>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seul">
  <p:cSld name="Titre seul">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4"/>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4"/>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4"/>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re seul">
  <p:cSld name="1_Titre seul">
    <p:spTree>
      <p:nvGrpSpPr>
        <p:cNvPr id="1" name="Shape 135"/>
        <p:cNvGrpSpPr/>
        <p:nvPr/>
      </p:nvGrpSpPr>
      <p:grpSpPr>
        <a:xfrm>
          <a:off x="0" y="0"/>
          <a:ext cx="0" cy="0"/>
          <a:chOff x="0" y="0"/>
          <a:chExt cx="0" cy="0"/>
        </a:xfrm>
      </p:grpSpPr>
      <p:sp>
        <p:nvSpPr>
          <p:cNvPr id="136" name="Google Shape;136;p25"/>
          <p:cNvSpPr>
            <a:spLocks noGrp="1"/>
          </p:cNvSpPr>
          <p:nvPr>
            <p:ph type="pic" idx="2"/>
          </p:nvPr>
        </p:nvSpPr>
        <p:spPr>
          <a:xfrm>
            <a:off x="904875" y="0"/>
            <a:ext cx="8239200" cy="5143500"/>
          </a:xfrm>
          <a:prstGeom prst="rect">
            <a:avLst/>
          </a:prstGeom>
          <a:noFill/>
          <a:ln>
            <a:noFill/>
          </a:ln>
        </p:spPr>
      </p:sp>
      <p:sp>
        <p:nvSpPr>
          <p:cNvPr id="137" name="Google Shape;137;p25"/>
          <p:cNvSpPr txBox="1">
            <a:spLocks noGrp="1"/>
          </p:cNvSpPr>
          <p:nvPr>
            <p:ph type="title"/>
          </p:nvPr>
        </p:nvSpPr>
        <p:spPr>
          <a:xfrm>
            <a:off x="6405563" y="2571750"/>
            <a:ext cx="2738400" cy="2111400"/>
          </a:xfrm>
          <a:prstGeom prst="rect">
            <a:avLst/>
          </a:prstGeom>
          <a:solidFill>
            <a:schemeClr val="accent2"/>
          </a:solidFill>
          <a:ln>
            <a:noFill/>
          </a:ln>
        </p:spPr>
        <p:txBody>
          <a:bodyPr spcFirstLastPara="1" wrap="square" lIns="180000" tIns="0" rIns="72000" bIns="46800" anchor="ctr" anchorCtr="0">
            <a:normAutofit/>
          </a:bodyPr>
          <a:lstStyle>
            <a:lvl1pPr lvl="0" algn="l">
              <a:lnSpc>
                <a:spcPct val="90000"/>
              </a:lnSpc>
              <a:spcBef>
                <a:spcPts val="0"/>
              </a:spcBef>
              <a:spcAft>
                <a:spcPts val="0"/>
              </a:spcAft>
              <a:buClr>
                <a:schemeClr val="lt1"/>
              </a:buClr>
              <a:buSzPts val="3200"/>
              <a:buFont typeface="Libre Franklin"/>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5"/>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5"/>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25"/>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Titre seul">
  <p:cSld name="2_Titre seul">
    <p:spTree>
      <p:nvGrpSpPr>
        <p:cNvPr id="1" name="Shape 141"/>
        <p:cNvGrpSpPr/>
        <p:nvPr/>
      </p:nvGrpSpPr>
      <p:grpSpPr>
        <a:xfrm>
          <a:off x="0" y="0"/>
          <a:ext cx="0" cy="0"/>
          <a:chOff x="0" y="0"/>
          <a:chExt cx="0" cy="0"/>
        </a:xfrm>
      </p:grpSpPr>
      <p:sp>
        <p:nvSpPr>
          <p:cNvPr id="142" name="Google Shape;142;p26"/>
          <p:cNvSpPr>
            <a:spLocks noGrp="1"/>
          </p:cNvSpPr>
          <p:nvPr>
            <p:ph type="pic" idx="2"/>
          </p:nvPr>
        </p:nvSpPr>
        <p:spPr>
          <a:xfrm>
            <a:off x="904875" y="0"/>
            <a:ext cx="7726500" cy="5143500"/>
          </a:xfrm>
          <a:prstGeom prst="rect">
            <a:avLst/>
          </a:prstGeom>
          <a:noFill/>
          <a:ln>
            <a:noFill/>
          </a:ln>
        </p:spPr>
      </p:sp>
      <p:sp>
        <p:nvSpPr>
          <p:cNvPr id="143" name="Google Shape;143;p26"/>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26"/>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6"/>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Titre seul">
  <p:cSld name="3_Titre seul">
    <p:spTree>
      <p:nvGrpSpPr>
        <p:cNvPr id="1" name="Shape 146"/>
        <p:cNvGrpSpPr/>
        <p:nvPr/>
      </p:nvGrpSpPr>
      <p:grpSpPr>
        <a:xfrm>
          <a:off x="0" y="0"/>
          <a:ext cx="0" cy="0"/>
          <a:chOff x="0" y="0"/>
          <a:chExt cx="0" cy="0"/>
        </a:xfrm>
      </p:grpSpPr>
      <p:sp>
        <p:nvSpPr>
          <p:cNvPr id="147" name="Google Shape;147;p27"/>
          <p:cNvSpPr>
            <a:spLocks noGrp="1"/>
          </p:cNvSpPr>
          <p:nvPr>
            <p:ph type="pic" idx="2"/>
          </p:nvPr>
        </p:nvSpPr>
        <p:spPr>
          <a:xfrm>
            <a:off x="904875" y="3114674"/>
            <a:ext cx="8239200" cy="2028900"/>
          </a:xfrm>
          <a:prstGeom prst="rect">
            <a:avLst/>
          </a:prstGeom>
          <a:noFill/>
          <a:ln>
            <a:noFill/>
          </a:ln>
        </p:spPr>
      </p:sp>
      <p:sp>
        <p:nvSpPr>
          <p:cNvPr id="148" name="Google Shape;148;p27"/>
          <p:cNvSpPr txBox="1">
            <a:spLocks noGrp="1"/>
          </p:cNvSpPr>
          <p:nvPr>
            <p:ph type="body" idx="1"/>
          </p:nvPr>
        </p:nvSpPr>
        <p:spPr>
          <a:xfrm>
            <a:off x="904875" y="1563688"/>
            <a:ext cx="7647000" cy="1436700"/>
          </a:xfrm>
          <a:prstGeom prst="rect">
            <a:avLst/>
          </a:prstGeom>
          <a:noFill/>
          <a:ln>
            <a:noFill/>
          </a:ln>
        </p:spPr>
        <p:txBody>
          <a:bodyPr spcFirstLastPara="1" wrap="square" lIns="180000" tIns="45700" rIns="91425" bIns="45700" anchor="t" anchorCtr="0">
            <a:normAutofit/>
          </a:bodyPr>
          <a:lstStyle>
            <a:lvl1pPr marL="457200" lvl="0" indent="-331470" algn="l">
              <a:lnSpc>
                <a:spcPct val="90000"/>
              </a:lnSpc>
              <a:spcBef>
                <a:spcPts val="750"/>
              </a:spcBef>
              <a:spcAft>
                <a:spcPts val="0"/>
              </a:spcAft>
              <a:buSzPts val="1620"/>
              <a:buChar char="▪"/>
              <a:defRPr/>
            </a:lvl1pPr>
            <a:lvl2pPr marL="914400" lvl="1" indent="-342900" algn="l">
              <a:lnSpc>
                <a:spcPct val="90000"/>
              </a:lnSpc>
              <a:spcBef>
                <a:spcPts val="375"/>
              </a:spcBef>
              <a:spcAft>
                <a:spcPts val="0"/>
              </a:spcAft>
              <a:buSzPts val="1800"/>
              <a:buChar char="•"/>
              <a:defRPr/>
            </a:lvl2pPr>
            <a:lvl3pPr marL="1371600" lvl="2" indent="-331469" algn="l">
              <a:lnSpc>
                <a:spcPct val="90000"/>
              </a:lnSpc>
              <a:spcBef>
                <a:spcPts val="375"/>
              </a:spcBef>
              <a:spcAft>
                <a:spcPts val="0"/>
              </a:spcAft>
              <a:buClr>
                <a:schemeClr val="dk1"/>
              </a:buClr>
              <a:buSzPts val="1620"/>
              <a:buChar char="▪"/>
              <a:defRPr/>
            </a:lvl3pPr>
            <a:lvl4pPr marL="1828800" lvl="3" indent="-314325" algn="l">
              <a:lnSpc>
                <a:spcPct val="90000"/>
              </a:lnSpc>
              <a:spcBef>
                <a:spcPts val="375"/>
              </a:spcBef>
              <a:spcAft>
                <a:spcPts val="0"/>
              </a:spcAft>
              <a:buClr>
                <a:schemeClr val="dk1"/>
              </a:buClr>
              <a:buSzPts val="1350"/>
              <a:buChar char="•"/>
              <a:defRPr>
                <a:latin typeface="Arial"/>
                <a:ea typeface="Arial"/>
                <a:cs typeface="Arial"/>
                <a:sym typeface="Arial"/>
              </a:defRPr>
            </a:lvl4pPr>
            <a:lvl5pPr marL="2286000" lvl="4" indent="-314325" algn="l">
              <a:lnSpc>
                <a:spcPct val="90000"/>
              </a:lnSpc>
              <a:spcBef>
                <a:spcPts val="375"/>
              </a:spcBef>
              <a:spcAft>
                <a:spcPts val="0"/>
              </a:spcAft>
              <a:buClr>
                <a:schemeClr val="dk1"/>
              </a:buClr>
              <a:buSzPts val="1350"/>
              <a:buChar char="•"/>
              <a:defRPr>
                <a:latin typeface="Arial"/>
                <a:ea typeface="Arial"/>
                <a:cs typeface="Arial"/>
                <a:sym typeface="Aria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9" name="Google Shape;149;p27"/>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27"/>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7"/>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
        <p:nvSpPr>
          <p:cNvPr id="152" name="Google Shape;152;p27"/>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153"/>
        <p:cNvGrpSpPr/>
        <p:nvPr/>
      </p:nvGrpSpPr>
      <p:grpSpPr>
        <a:xfrm>
          <a:off x="0" y="0"/>
          <a:ext cx="0" cy="0"/>
          <a:chOff x="0" y="0"/>
          <a:chExt cx="0" cy="0"/>
        </a:xfrm>
      </p:grpSpPr>
      <p:sp>
        <p:nvSpPr>
          <p:cNvPr id="154" name="Google Shape;154;p28"/>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8"/>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28"/>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lvl1pPr marR="0" lvl="0" algn="l">
              <a:lnSpc>
                <a:spcPct val="90000"/>
              </a:lnSpc>
              <a:spcBef>
                <a:spcPts val="0"/>
              </a:spcBef>
              <a:spcAft>
                <a:spcPts val="0"/>
              </a:spcAft>
              <a:buClr>
                <a:schemeClr val="dk1"/>
              </a:buClr>
              <a:buSzPts val="3200"/>
              <a:buFont typeface="Libre Franklin"/>
              <a:buNone/>
              <a:defRPr sz="3200" b="1" i="0" u="none" strike="noStrike" cap="none">
                <a:solidFill>
                  <a:schemeClr val="dk1"/>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904875" y="1563688"/>
            <a:ext cx="7726500" cy="3386700"/>
          </a:xfrm>
          <a:prstGeom prst="rect">
            <a:avLst/>
          </a:prstGeom>
          <a:noFill/>
          <a:ln>
            <a:noFill/>
          </a:ln>
        </p:spPr>
        <p:txBody>
          <a:bodyPr spcFirstLastPara="1" wrap="square" lIns="180000" tIns="45700" rIns="91425" bIns="45700" anchor="t" anchorCtr="0">
            <a:normAutofit/>
          </a:bodyPr>
          <a:lstStyle>
            <a:lvl1pPr marL="457200" marR="0" lvl="0" indent="-331470" algn="l">
              <a:lnSpc>
                <a:spcPct val="90000"/>
              </a:lnSpc>
              <a:spcBef>
                <a:spcPts val="750"/>
              </a:spcBef>
              <a:spcAft>
                <a:spcPts val="0"/>
              </a:spcAft>
              <a:buClr>
                <a:schemeClr val="accent1"/>
              </a:buClr>
              <a:buSzPts val="162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a:lnSpc>
                <a:spcPct val="90000"/>
              </a:lnSpc>
              <a:spcBef>
                <a:spcPts val="375"/>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4325" algn="l">
              <a:lnSpc>
                <a:spcPct val="90000"/>
              </a:lnSpc>
              <a:spcBef>
                <a:spcPts val="375"/>
              </a:spcBef>
              <a:spcAft>
                <a:spcPts val="0"/>
              </a:spcAft>
              <a:buClr>
                <a:schemeClr val="dk1"/>
              </a:buClr>
              <a:buSzPts val="1350"/>
              <a:buFont typeface="Noto Sans Symbols"/>
              <a:buChar char="▪"/>
              <a:defRPr sz="1500" b="0" i="0" u="none" strike="noStrike" cap="none">
                <a:solidFill>
                  <a:schemeClr val="dk1"/>
                </a:solidFill>
                <a:latin typeface="Arial"/>
                <a:ea typeface="Arial"/>
                <a:cs typeface="Arial"/>
                <a:sym typeface="Arial"/>
              </a:defRPr>
            </a:lvl3pPr>
            <a:lvl4pPr marL="1828800" marR="0" lvl="3"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700" b="0" i="0" u="none" strike="noStrike" cap="none">
                <a:solidFill>
                  <a:schemeClr val="accent1"/>
                </a:solidFill>
                <a:latin typeface="Arial"/>
                <a:ea typeface="Arial"/>
                <a:cs typeface="Arial"/>
                <a:sym typeface="Arial"/>
              </a:defRPr>
            </a:lvl1pPr>
            <a:lvl2pPr marR="0" lvl="1" algn="l">
              <a:spcBef>
                <a:spcPts val="0"/>
              </a:spcBef>
              <a:spcAft>
                <a:spcPts val="0"/>
              </a:spcAft>
              <a:buSzPts val="1400"/>
              <a:buNone/>
              <a:defRPr sz="1350" b="0" i="0" u="none" strike="noStrike" cap="none">
                <a:solidFill>
                  <a:schemeClr val="dk1"/>
                </a:solidFill>
                <a:latin typeface="Arial"/>
                <a:ea typeface="Arial"/>
                <a:cs typeface="Arial"/>
                <a:sym typeface="Arial"/>
              </a:defRPr>
            </a:lvl2pPr>
            <a:lvl3pPr marR="0" lvl="2" algn="l">
              <a:spcBef>
                <a:spcPts val="0"/>
              </a:spcBef>
              <a:spcAft>
                <a:spcPts val="0"/>
              </a:spcAft>
              <a:buSzPts val="1400"/>
              <a:buNone/>
              <a:defRPr sz="1350" b="0" i="0" u="none" strike="noStrike" cap="none">
                <a:solidFill>
                  <a:schemeClr val="dk1"/>
                </a:solidFill>
                <a:latin typeface="Arial"/>
                <a:ea typeface="Arial"/>
                <a:cs typeface="Arial"/>
                <a:sym typeface="Arial"/>
              </a:defRPr>
            </a:lvl3pPr>
            <a:lvl4pPr marR="0" lvl="3" algn="l">
              <a:spcBef>
                <a:spcPts val="0"/>
              </a:spcBef>
              <a:spcAft>
                <a:spcPts val="0"/>
              </a:spcAft>
              <a:buSzPts val="1400"/>
              <a:buNone/>
              <a:defRPr sz="1350" b="0" i="0" u="none" strike="noStrike" cap="none">
                <a:solidFill>
                  <a:schemeClr val="dk1"/>
                </a:solidFill>
                <a:latin typeface="Arial"/>
                <a:ea typeface="Arial"/>
                <a:cs typeface="Arial"/>
                <a:sym typeface="Arial"/>
              </a:defRPr>
            </a:lvl4pPr>
            <a:lvl5pPr marR="0" lvl="4" algn="l">
              <a:spcBef>
                <a:spcPts val="0"/>
              </a:spcBef>
              <a:spcAft>
                <a:spcPts val="0"/>
              </a:spcAft>
              <a:buSzPts val="1400"/>
              <a:buNone/>
              <a:defRPr sz="1350" b="0" i="0" u="none" strike="noStrike" cap="none">
                <a:solidFill>
                  <a:schemeClr val="dk1"/>
                </a:solidFill>
                <a:latin typeface="Arial"/>
                <a:ea typeface="Arial"/>
                <a:cs typeface="Arial"/>
                <a:sym typeface="Arial"/>
              </a:defRPr>
            </a:lvl5pPr>
            <a:lvl6pPr marR="0" lvl="5" algn="l">
              <a:spcBef>
                <a:spcPts val="0"/>
              </a:spcBef>
              <a:spcAft>
                <a:spcPts val="0"/>
              </a:spcAft>
              <a:buSzPts val="1400"/>
              <a:buNone/>
              <a:defRPr sz="1350" b="0" i="0" u="none" strike="noStrike" cap="none">
                <a:solidFill>
                  <a:schemeClr val="dk1"/>
                </a:solidFill>
                <a:latin typeface="Arial"/>
                <a:ea typeface="Arial"/>
                <a:cs typeface="Arial"/>
                <a:sym typeface="Arial"/>
              </a:defRPr>
            </a:lvl6pPr>
            <a:lvl7pPr marR="0" lvl="6" algn="l">
              <a:spcBef>
                <a:spcPts val="0"/>
              </a:spcBef>
              <a:spcAft>
                <a:spcPts val="0"/>
              </a:spcAft>
              <a:buSzPts val="1400"/>
              <a:buNone/>
              <a:defRPr sz="1350" b="0" i="0" u="none" strike="noStrike" cap="none">
                <a:solidFill>
                  <a:schemeClr val="dk1"/>
                </a:solidFill>
                <a:latin typeface="Arial"/>
                <a:ea typeface="Arial"/>
                <a:cs typeface="Arial"/>
                <a:sym typeface="Arial"/>
              </a:defRPr>
            </a:lvl7pPr>
            <a:lvl8pPr marR="0" lvl="7" algn="l">
              <a:spcBef>
                <a:spcPts val="0"/>
              </a:spcBef>
              <a:spcAft>
                <a:spcPts val="0"/>
              </a:spcAft>
              <a:buSzPts val="1400"/>
              <a:buNone/>
              <a:defRPr sz="1350" b="0" i="0" u="none" strike="noStrike" cap="none">
                <a:solidFill>
                  <a:schemeClr val="dk1"/>
                </a:solidFill>
                <a:latin typeface="Arial"/>
                <a:ea typeface="Arial"/>
                <a:cs typeface="Arial"/>
                <a:sym typeface="Arial"/>
              </a:defRPr>
            </a:lvl8pPr>
            <a:lvl9pPr marR="0" lvl="8" algn="l">
              <a:spcBef>
                <a:spcPts val="0"/>
              </a:spcBef>
              <a:spcAft>
                <a:spcPts val="0"/>
              </a:spcAft>
              <a:buSzPts val="1400"/>
              <a:buNone/>
              <a:defRPr sz="135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lvl1pPr marR="0" lvl="0" algn="r">
              <a:spcBef>
                <a:spcPts val="0"/>
              </a:spcBef>
              <a:spcAft>
                <a:spcPts val="0"/>
              </a:spcAft>
              <a:buSzPts val="1400"/>
              <a:buNone/>
              <a:defRPr sz="700" b="0" i="0" u="none" strike="noStrike" cap="none">
                <a:solidFill>
                  <a:schemeClr val="dk1"/>
                </a:solidFill>
                <a:latin typeface="Arial"/>
                <a:ea typeface="Arial"/>
                <a:cs typeface="Arial"/>
                <a:sym typeface="Arial"/>
              </a:defRPr>
            </a:lvl1pPr>
            <a:lvl2pPr marR="0" lvl="1" algn="l">
              <a:spcBef>
                <a:spcPts val="0"/>
              </a:spcBef>
              <a:spcAft>
                <a:spcPts val="0"/>
              </a:spcAft>
              <a:buSzPts val="1400"/>
              <a:buNone/>
              <a:defRPr sz="1350" b="0" i="0" u="none" strike="noStrike" cap="none">
                <a:solidFill>
                  <a:schemeClr val="dk1"/>
                </a:solidFill>
                <a:latin typeface="Arial"/>
                <a:ea typeface="Arial"/>
                <a:cs typeface="Arial"/>
                <a:sym typeface="Arial"/>
              </a:defRPr>
            </a:lvl2pPr>
            <a:lvl3pPr marR="0" lvl="2" algn="l">
              <a:spcBef>
                <a:spcPts val="0"/>
              </a:spcBef>
              <a:spcAft>
                <a:spcPts val="0"/>
              </a:spcAft>
              <a:buSzPts val="1400"/>
              <a:buNone/>
              <a:defRPr sz="1350" b="0" i="0" u="none" strike="noStrike" cap="none">
                <a:solidFill>
                  <a:schemeClr val="dk1"/>
                </a:solidFill>
                <a:latin typeface="Arial"/>
                <a:ea typeface="Arial"/>
                <a:cs typeface="Arial"/>
                <a:sym typeface="Arial"/>
              </a:defRPr>
            </a:lvl3pPr>
            <a:lvl4pPr marR="0" lvl="3" algn="l">
              <a:spcBef>
                <a:spcPts val="0"/>
              </a:spcBef>
              <a:spcAft>
                <a:spcPts val="0"/>
              </a:spcAft>
              <a:buSzPts val="1400"/>
              <a:buNone/>
              <a:defRPr sz="1350" b="0" i="0" u="none" strike="noStrike" cap="none">
                <a:solidFill>
                  <a:schemeClr val="dk1"/>
                </a:solidFill>
                <a:latin typeface="Arial"/>
                <a:ea typeface="Arial"/>
                <a:cs typeface="Arial"/>
                <a:sym typeface="Arial"/>
              </a:defRPr>
            </a:lvl4pPr>
            <a:lvl5pPr marR="0" lvl="4" algn="l">
              <a:spcBef>
                <a:spcPts val="0"/>
              </a:spcBef>
              <a:spcAft>
                <a:spcPts val="0"/>
              </a:spcAft>
              <a:buSzPts val="1400"/>
              <a:buNone/>
              <a:defRPr sz="1350" b="0" i="0" u="none" strike="noStrike" cap="none">
                <a:solidFill>
                  <a:schemeClr val="dk1"/>
                </a:solidFill>
                <a:latin typeface="Arial"/>
                <a:ea typeface="Arial"/>
                <a:cs typeface="Arial"/>
                <a:sym typeface="Arial"/>
              </a:defRPr>
            </a:lvl5pPr>
            <a:lvl6pPr marR="0" lvl="5" algn="l">
              <a:spcBef>
                <a:spcPts val="0"/>
              </a:spcBef>
              <a:spcAft>
                <a:spcPts val="0"/>
              </a:spcAft>
              <a:buSzPts val="1400"/>
              <a:buNone/>
              <a:defRPr sz="1350" b="0" i="0" u="none" strike="noStrike" cap="none">
                <a:solidFill>
                  <a:schemeClr val="dk1"/>
                </a:solidFill>
                <a:latin typeface="Arial"/>
                <a:ea typeface="Arial"/>
                <a:cs typeface="Arial"/>
                <a:sym typeface="Arial"/>
              </a:defRPr>
            </a:lvl6pPr>
            <a:lvl7pPr marR="0" lvl="6" algn="l">
              <a:spcBef>
                <a:spcPts val="0"/>
              </a:spcBef>
              <a:spcAft>
                <a:spcPts val="0"/>
              </a:spcAft>
              <a:buSzPts val="1400"/>
              <a:buNone/>
              <a:defRPr sz="1350" b="0" i="0" u="none" strike="noStrike" cap="none">
                <a:solidFill>
                  <a:schemeClr val="dk1"/>
                </a:solidFill>
                <a:latin typeface="Arial"/>
                <a:ea typeface="Arial"/>
                <a:cs typeface="Arial"/>
                <a:sym typeface="Arial"/>
              </a:defRPr>
            </a:lvl7pPr>
            <a:lvl8pPr marR="0" lvl="7" algn="l">
              <a:spcBef>
                <a:spcPts val="0"/>
              </a:spcBef>
              <a:spcAft>
                <a:spcPts val="0"/>
              </a:spcAft>
              <a:buSzPts val="1400"/>
              <a:buNone/>
              <a:defRPr sz="1350" b="0" i="0" u="none" strike="noStrike" cap="none">
                <a:solidFill>
                  <a:schemeClr val="dk1"/>
                </a:solidFill>
                <a:latin typeface="Arial"/>
                <a:ea typeface="Arial"/>
                <a:cs typeface="Arial"/>
                <a:sym typeface="Arial"/>
              </a:defRPr>
            </a:lvl8pPr>
            <a:lvl9pPr marR="0" lvl="8" algn="l">
              <a:spcBef>
                <a:spcPts val="0"/>
              </a:spcBef>
              <a:spcAft>
                <a:spcPts val="0"/>
              </a:spcAft>
              <a:buSzPts val="1400"/>
              <a:buNone/>
              <a:defRPr sz="135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lvl1pPr marL="0" marR="0" lvl="0" indent="0" algn="ctr">
              <a:spcBef>
                <a:spcPts val="0"/>
              </a:spcBef>
              <a:buNone/>
              <a:defRPr sz="700" b="1" i="0" u="none" strike="noStrike" cap="none">
                <a:solidFill>
                  <a:schemeClr val="dk1"/>
                </a:solidFill>
                <a:latin typeface="Libre Franklin"/>
                <a:ea typeface="Libre Franklin"/>
                <a:cs typeface="Libre Franklin"/>
                <a:sym typeface="Libre Franklin"/>
              </a:defRPr>
            </a:lvl1pPr>
            <a:lvl2pPr marL="0" marR="0" lvl="1" indent="0" algn="ctr">
              <a:spcBef>
                <a:spcPts val="0"/>
              </a:spcBef>
              <a:buNone/>
              <a:defRPr sz="700" b="1" i="0" u="none" strike="noStrike" cap="none">
                <a:solidFill>
                  <a:schemeClr val="dk1"/>
                </a:solidFill>
                <a:latin typeface="Libre Franklin"/>
                <a:ea typeface="Libre Franklin"/>
                <a:cs typeface="Libre Franklin"/>
                <a:sym typeface="Libre Franklin"/>
              </a:defRPr>
            </a:lvl2pPr>
            <a:lvl3pPr marL="0" marR="0" lvl="2" indent="0" algn="ctr">
              <a:spcBef>
                <a:spcPts val="0"/>
              </a:spcBef>
              <a:buNone/>
              <a:defRPr sz="700" b="1" i="0" u="none" strike="noStrike" cap="none">
                <a:solidFill>
                  <a:schemeClr val="dk1"/>
                </a:solidFill>
                <a:latin typeface="Libre Franklin"/>
                <a:ea typeface="Libre Franklin"/>
                <a:cs typeface="Libre Franklin"/>
                <a:sym typeface="Libre Franklin"/>
              </a:defRPr>
            </a:lvl3pPr>
            <a:lvl4pPr marL="0" marR="0" lvl="3" indent="0" algn="ctr">
              <a:spcBef>
                <a:spcPts val="0"/>
              </a:spcBef>
              <a:buNone/>
              <a:defRPr sz="700" b="1" i="0" u="none" strike="noStrike" cap="none">
                <a:solidFill>
                  <a:schemeClr val="dk1"/>
                </a:solidFill>
                <a:latin typeface="Libre Franklin"/>
                <a:ea typeface="Libre Franklin"/>
                <a:cs typeface="Libre Franklin"/>
                <a:sym typeface="Libre Franklin"/>
              </a:defRPr>
            </a:lvl4pPr>
            <a:lvl5pPr marL="0" marR="0" lvl="4" indent="0" algn="ctr">
              <a:spcBef>
                <a:spcPts val="0"/>
              </a:spcBef>
              <a:buNone/>
              <a:defRPr sz="700" b="1" i="0" u="none" strike="noStrike" cap="none">
                <a:solidFill>
                  <a:schemeClr val="dk1"/>
                </a:solidFill>
                <a:latin typeface="Libre Franklin"/>
                <a:ea typeface="Libre Franklin"/>
                <a:cs typeface="Libre Franklin"/>
                <a:sym typeface="Libre Franklin"/>
              </a:defRPr>
            </a:lvl5pPr>
            <a:lvl6pPr marL="0" marR="0" lvl="5" indent="0" algn="ctr">
              <a:spcBef>
                <a:spcPts val="0"/>
              </a:spcBef>
              <a:buNone/>
              <a:defRPr sz="700" b="1" i="0" u="none" strike="noStrike" cap="none">
                <a:solidFill>
                  <a:schemeClr val="dk1"/>
                </a:solidFill>
                <a:latin typeface="Libre Franklin"/>
                <a:ea typeface="Libre Franklin"/>
                <a:cs typeface="Libre Franklin"/>
                <a:sym typeface="Libre Franklin"/>
              </a:defRPr>
            </a:lvl6pPr>
            <a:lvl7pPr marL="0" marR="0" lvl="6" indent="0" algn="ctr">
              <a:spcBef>
                <a:spcPts val="0"/>
              </a:spcBef>
              <a:buNone/>
              <a:defRPr sz="700" b="1" i="0" u="none" strike="noStrike" cap="none">
                <a:solidFill>
                  <a:schemeClr val="dk1"/>
                </a:solidFill>
                <a:latin typeface="Libre Franklin"/>
                <a:ea typeface="Libre Franklin"/>
                <a:cs typeface="Libre Franklin"/>
                <a:sym typeface="Libre Franklin"/>
              </a:defRPr>
            </a:lvl7pPr>
            <a:lvl8pPr marL="0" marR="0" lvl="7" indent="0" algn="ctr">
              <a:spcBef>
                <a:spcPts val="0"/>
              </a:spcBef>
              <a:buNone/>
              <a:defRPr sz="700" b="1" i="0" u="none" strike="noStrike" cap="none">
                <a:solidFill>
                  <a:schemeClr val="dk1"/>
                </a:solidFill>
                <a:latin typeface="Libre Franklin"/>
                <a:ea typeface="Libre Franklin"/>
                <a:cs typeface="Libre Franklin"/>
                <a:sym typeface="Libre Franklin"/>
              </a:defRPr>
            </a:lvl8pPr>
            <a:lvl9pPr marL="0" marR="0" lvl="8" indent="0" algn="ctr">
              <a:spcBef>
                <a:spcPts val="0"/>
              </a:spcBef>
              <a:buNone/>
              <a:defRPr sz="700" b="1" i="0" u="none" strike="noStrike" cap="none">
                <a:solidFill>
                  <a:schemeClr val="dk1"/>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fr"/>
              <a:t>‹#›</a:t>
            </a:fld>
            <a:endParaRPr/>
          </a:p>
        </p:txBody>
      </p:sp>
      <p:pic>
        <p:nvPicPr>
          <p:cNvPr id="56" name="Google Shape;56;p13"/>
          <p:cNvPicPr preferRelativeResize="0"/>
          <p:nvPr/>
        </p:nvPicPr>
        <p:blipFill rotWithShape="1">
          <a:blip r:embed="rId17">
            <a:alphaModFix/>
          </a:blip>
          <a:srcRect/>
          <a:stretch/>
        </p:blipFill>
        <p:spPr>
          <a:xfrm>
            <a:off x="130273" y="132334"/>
            <a:ext cx="653955" cy="283023"/>
          </a:xfrm>
          <a:prstGeom prst="rect">
            <a:avLst/>
          </a:prstGeom>
          <a:noFill/>
          <a:ln>
            <a:noFill/>
          </a:ln>
        </p:spPr>
      </p:pic>
      <p:sp>
        <p:nvSpPr>
          <p:cNvPr id="57" name="Google Shape;57;p13"/>
          <p:cNvSpPr/>
          <p:nvPr/>
        </p:nvSpPr>
        <p:spPr>
          <a:xfrm rot="-5400000">
            <a:off x="430022" y="4897810"/>
            <a:ext cx="45600" cy="59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126">
          <p15:clr>
            <a:srgbClr val="F26B43"/>
          </p15:clr>
        </p15:guide>
        <p15:guide id="3" pos="5602">
          <p15:clr>
            <a:srgbClr val="F26B43"/>
          </p15:clr>
        </p15:guide>
        <p15:guide id="4" pos="2880">
          <p15:clr>
            <a:srgbClr val="F26B43"/>
          </p15:clr>
        </p15:guide>
        <p15:guide id="5" orient="horz" pos="123">
          <p15:clr>
            <a:srgbClr val="F26B43"/>
          </p15:clr>
        </p15:guide>
        <p15:guide id="6" orient="horz" pos="3117">
          <p15:clr>
            <a:srgbClr val="F26B43"/>
          </p15:clr>
        </p15:guide>
        <p15:guide id="7" pos="570">
          <p15:clr>
            <a:srgbClr val="F26B43"/>
          </p15:clr>
        </p15:guide>
        <p15:guide id="8" pos="1155">
          <p15:clr>
            <a:srgbClr val="F26B43"/>
          </p15:clr>
        </p15:guide>
        <p15:guide id="9" pos="1728">
          <p15:clr>
            <a:srgbClr val="F26B43"/>
          </p15:clr>
        </p15:guide>
        <p15:guide id="10" pos="2304">
          <p15:clr>
            <a:srgbClr val="F26B43"/>
          </p15:clr>
        </p15:guide>
        <p15:guide id="11" pos="3456">
          <p15:clr>
            <a:srgbClr val="F26B43"/>
          </p15:clr>
        </p15:guide>
        <p15:guide id="12" pos="4035">
          <p15:clr>
            <a:srgbClr val="F26B43"/>
          </p15:clr>
        </p15:guide>
        <p15:guide id="13" pos="4608">
          <p15:clr>
            <a:srgbClr val="F26B43"/>
          </p15:clr>
        </p15:guide>
        <p15:guide id="14" pos="5180">
          <p15:clr>
            <a:srgbClr val="F26B43"/>
          </p15:clr>
        </p15:guide>
        <p15:guide id="15" orient="horz" pos="490">
          <p15:clr>
            <a:srgbClr val="F26B43"/>
          </p15:clr>
        </p15:guide>
        <p15:guide id="16" orient="horz" pos="985">
          <p15:clr>
            <a:srgbClr val="F26B43"/>
          </p15:clr>
        </p15:guide>
        <p15:guide id="17" orient="horz" pos="1475">
          <p15:clr>
            <a:srgbClr val="F26B43"/>
          </p15:clr>
        </p15:guide>
        <p15:guide id="18" orient="horz" pos="1962">
          <p15:clr>
            <a:srgbClr val="F26B43"/>
          </p15:clr>
        </p15:guide>
        <p15:guide id="19" orient="horz" pos="2458">
          <p15:clr>
            <a:srgbClr val="F26B43"/>
          </p15:clr>
        </p15:guide>
        <p15:guide id="20" orient="horz" pos="2950">
          <p15:clr>
            <a:srgbClr val="F26B43"/>
          </p15:clr>
        </p15:guide>
        <p15:guide id="21" pos="5437">
          <p15:clr>
            <a:srgbClr val="F26B43"/>
          </p15:clr>
        </p15:guide>
        <p15:guide id="22" orient="horz">
          <p15:clr>
            <a:srgbClr val="F26B43"/>
          </p15:clr>
        </p15:guide>
        <p15:guide id="23" pos="5760">
          <p15:clr>
            <a:srgbClr val="F26B43"/>
          </p15:clr>
        </p15:guide>
        <p15:guide id="24" orient="horz" pos="3240">
          <p15:clr>
            <a:srgbClr val="F26B43"/>
          </p15:clr>
        </p15:guide>
        <p15:guide id="2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medium.com/@souro400.nath/why-is-bilstm-better-than-lstm-a7eb0090c1e4"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hyperlink" Target="https://www.mdpi.com/2227-7390/11/10/2286"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hyperlink" Target="https://arxiv.org/abs/2111.0039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hyperlink" Target="https://theaisummer.com/gnn-architecture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hyperlink" Target="https://openreview.net/pdf?id=k9bx1EfHI_-"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hyperlink" Target="https://arxiv.org/abs/1709.04875"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a:spLocks noGrp="1"/>
          </p:cNvSpPr>
          <p:nvPr>
            <p:ph type="title"/>
          </p:nvPr>
        </p:nvSpPr>
        <p:spPr>
          <a:xfrm>
            <a:off x="4572000" y="777875"/>
            <a:ext cx="4059000" cy="1794000"/>
          </a:xfrm>
          <a:prstGeom prst="rect">
            <a:avLst/>
          </a:prstGeom>
          <a:noFill/>
          <a:ln>
            <a:noFill/>
          </a:ln>
        </p:spPr>
        <p:txBody>
          <a:bodyPr spcFirstLastPara="1" wrap="square" lIns="180000" tIns="0" rIns="72000" bIns="46800" anchor="ctr" anchorCtr="0">
            <a:normAutofit/>
          </a:bodyPr>
          <a:lstStyle/>
          <a:p>
            <a:pPr marL="0" lvl="0" indent="0" algn="l" rtl="0">
              <a:lnSpc>
                <a:spcPct val="90000"/>
              </a:lnSpc>
              <a:spcBef>
                <a:spcPts val="0"/>
              </a:spcBef>
              <a:spcAft>
                <a:spcPts val="0"/>
              </a:spcAft>
              <a:buClr>
                <a:schemeClr val="lt1"/>
              </a:buClr>
              <a:buSzPts val="3200"/>
              <a:buFont typeface="Libre Franklin"/>
              <a:buNone/>
            </a:pPr>
            <a:r>
              <a:rPr lang="fr"/>
              <a:t>Graph Based EEG Analysis</a:t>
            </a:r>
            <a:endParaRPr/>
          </a:p>
        </p:txBody>
      </p:sp>
      <p:sp>
        <p:nvSpPr>
          <p:cNvPr id="162" name="Google Shape;162;p29"/>
          <p:cNvSpPr txBox="1">
            <a:spLocks noGrp="1"/>
          </p:cNvSpPr>
          <p:nvPr>
            <p:ph type="body" idx="1"/>
          </p:nvPr>
        </p:nvSpPr>
        <p:spPr>
          <a:xfrm>
            <a:off x="4572000" y="2571750"/>
            <a:ext cx="4059000" cy="2156400"/>
          </a:xfrm>
          <a:prstGeom prst="rect">
            <a:avLst/>
          </a:prstGeom>
          <a:noFill/>
          <a:ln>
            <a:noFill/>
          </a:ln>
        </p:spPr>
        <p:txBody>
          <a:bodyPr spcFirstLastPara="1" wrap="square" lIns="180000" tIns="45700" rIns="91425" bIns="45700" anchor="t" anchorCtr="0">
            <a:normAutofit/>
          </a:bodyPr>
          <a:lstStyle/>
          <a:p>
            <a:pPr marL="0" lvl="0" indent="0" algn="l" rtl="0">
              <a:lnSpc>
                <a:spcPct val="90000"/>
              </a:lnSpc>
              <a:spcBef>
                <a:spcPts val="0"/>
              </a:spcBef>
              <a:spcAft>
                <a:spcPts val="0"/>
              </a:spcAft>
              <a:buSzPts val="1620"/>
              <a:buNone/>
            </a:pPr>
            <a:r>
              <a:rPr lang="fr"/>
              <a:t>Andres Nowak, Sajal Chaurasia, Sathvik Bhagavan, Yasaman Noorikhah</a:t>
            </a:r>
            <a:endParaRPr/>
          </a:p>
        </p:txBody>
      </p:sp>
      <p:sp>
        <p:nvSpPr>
          <p:cNvPr id="163" name="Google Shape;163;p29"/>
          <p:cNvSpPr>
            <a:spLocks noGrp="1"/>
          </p:cNvSpPr>
          <p:nvPr>
            <p:ph type="pic" idx="2"/>
          </p:nvPr>
        </p:nvSpPr>
        <p:spPr>
          <a:xfrm>
            <a:off x="904875" y="0"/>
            <a:ext cx="3667200" cy="5143500"/>
          </a:xfrm>
          <a:prstGeom prst="rect">
            <a:avLst/>
          </a:prstGeom>
          <a:noFill/>
          <a:ln>
            <a:noFill/>
          </a:ln>
        </p:spPr>
      </p:sp>
      <p:sp>
        <p:nvSpPr>
          <p:cNvPr id="164" name="Google Shape;164;p29"/>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165" name="Google Shape;165;p29"/>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 </a:t>
            </a:r>
            <a:endParaRPr/>
          </a:p>
        </p:txBody>
      </p:sp>
      <p:sp>
        <p:nvSpPr>
          <p:cNvPr id="166" name="Google Shape;166;p29"/>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Clr>
                <a:srgbClr val="000000"/>
              </a:buClr>
              <a:buFont typeface="Arial"/>
              <a:buNone/>
            </a:pPr>
            <a:fld id="{00000000-1234-1234-1234-123412341234}" type="slidenum">
              <a:rPr lang="f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body" idx="1"/>
          </p:nvPr>
        </p:nvSpPr>
        <p:spPr>
          <a:xfrm>
            <a:off x="904875" y="1092263"/>
            <a:ext cx="7726500" cy="33867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a:solidFill>
                  <a:srgbClr val="000000"/>
                </a:solidFill>
              </a:rPr>
              <a:t>Epilepsy involves </a:t>
            </a:r>
            <a:r>
              <a:rPr lang="fr" sz="1400" b="1">
                <a:solidFill>
                  <a:srgbClr val="000000"/>
                </a:solidFill>
              </a:rPr>
              <a:t>recurrent seizures</a:t>
            </a:r>
            <a:r>
              <a:rPr lang="fr" sz="1400">
                <a:solidFill>
                  <a:srgbClr val="000000"/>
                </a:solidFill>
              </a:rPr>
              <a:t> due to abnormal neuronal activity.</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Detecting seizures</a:t>
            </a:r>
            <a:r>
              <a:rPr lang="fr" sz="1400">
                <a:solidFill>
                  <a:srgbClr val="000000"/>
                </a:solidFill>
              </a:rPr>
              <a:t> from EEG signals is challenging due to their noisy, high-dimensional, and non-stationary nature.</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a:solidFill>
                  <a:srgbClr val="000000"/>
                </a:solidFill>
              </a:rPr>
              <a:t>Traditional methods (RNNs, transformers) often ignore </a:t>
            </a:r>
            <a:r>
              <a:rPr lang="fr" sz="1400" b="1">
                <a:solidFill>
                  <a:srgbClr val="000000"/>
                </a:solidFill>
              </a:rPr>
              <a:t>spatial relationships</a:t>
            </a:r>
            <a:r>
              <a:rPr lang="fr" sz="1400">
                <a:solidFill>
                  <a:srgbClr val="000000"/>
                </a:solidFill>
              </a:rPr>
              <a:t> between electrodes which is a key aspect of brain connectivity.</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Graph-based methods</a:t>
            </a:r>
            <a:r>
              <a:rPr lang="fr" sz="1400">
                <a:solidFill>
                  <a:srgbClr val="000000"/>
                </a:solidFill>
              </a:rPr>
              <a:t> may help capture these relationships and improve both performance and interpretability in seizure detection.</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a:solidFill>
                  <a:srgbClr val="000000"/>
                </a:solidFill>
              </a:rPr>
              <a:t>This project aims to </a:t>
            </a:r>
            <a:r>
              <a:rPr lang="fr" sz="1400" b="1">
                <a:solidFill>
                  <a:srgbClr val="000000"/>
                </a:solidFill>
              </a:rPr>
              <a:t>compare graph-based approaches with traditional methods</a:t>
            </a:r>
            <a:r>
              <a:rPr lang="fr" sz="1400">
                <a:solidFill>
                  <a:srgbClr val="000000"/>
                </a:solidFill>
              </a:rPr>
              <a:t> to determine their potential for improving seizure detection.</a:t>
            </a:r>
            <a:endParaRPr/>
          </a:p>
        </p:txBody>
      </p:sp>
      <p:sp>
        <p:nvSpPr>
          <p:cNvPr id="172" name="Google Shape;172;p30"/>
          <p:cNvSpPr txBox="1">
            <a:spLocks noGrp="1"/>
          </p:cNvSpPr>
          <p:nvPr>
            <p:ph type="title"/>
          </p:nvPr>
        </p:nvSpPr>
        <p:spPr>
          <a:xfrm>
            <a:off x="904875" y="131025"/>
            <a:ext cx="42597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Problem Statement</a:t>
            </a:r>
            <a:endParaRPr/>
          </a:p>
        </p:txBody>
      </p:sp>
      <p:sp>
        <p:nvSpPr>
          <p:cNvPr id="173" name="Google Shape;173;p30"/>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174" name="Google Shape;174;p30"/>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2</a:t>
            </a:fld>
            <a:endParaRPr/>
          </a:p>
        </p:txBody>
      </p:sp>
      <p:sp>
        <p:nvSpPr>
          <p:cNvPr id="175" name="Google Shape;175;p30"/>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1"/>
          <p:cNvSpPr txBox="1">
            <a:spLocks noGrp="1"/>
          </p:cNvSpPr>
          <p:nvPr>
            <p:ph type="body" idx="1"/>
          </p:nvPr>
        </p:nvSpPr>
        <p:spPr>
          <a:xfrm>
            <a:off x="904875" y="1563688"/>
            <a:ext cx="7726500" cy="33867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a:solidFill>
                  <a:srgbClr val="000000"/>
                </a:solidFill>
              </a:rPr>
              <a:t>Subset of</a:t>
            </a:r>
            <a:r>
              <a:rPr lang="fr" sz="1400" b="1">
                <a:solidFill>
                  <a:srgbClr val="000000"/>
                </a:solidFill>
              </a:rPr>
              <a:t> Temple University Hospital (TUSZ) dataset,</a:t>
            </a:r>
            <a:r>
              <a:rPr lang="fr" sz="1400">
                <a:solidFill>
                  <a:srgbClr val="000000"/>
                </a:solidFill>
              </a:rPr>
              <a:t> a large and publicly available EEG database with seizures.</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Comprises 12-second recordings</a:t>
            </a:r>
            <a:r>
              <a:rPr lang="fr" sz="1400">
                <a:solidFill>
                  <a:srgbClr val="000000"/>
                </a:solidFill>
              </a:rPr>
              <a:t> (at 250 Hz) from 19 electrodes placed according to the international 10–20 system.</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Training: 97 patients; Validation: 9; Test: 25</a:t>
            </a:r>
            <a:r>
              <a:rPr lang="fr" sz="1400">
                <a:solidFill>
                  <a:srgbClr val="000000"/>
                </a:solidFill>
              </a:rPr>
              <a:t>; did a patient-wise split to avoid data leakage.</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Class imbalance</a:t>
            </a:r>
            <a:r>
              <a:rPr lang="fr" sz="1400">
                <a:solidFill>
                  <a:srgbClr val="000000"/>
                </a:solidFill>
              </a:rPr>
              <a:t> — seizures make up only </a:t>
            </a:r>
            <a:r>
              <a:rPr lang="fr" sz="1400" b="1">
                <a:solidFill>
                  <a:srgbClr val="000000"/>
                </a:solidFill>
              </a:rPr>
              <a:t>~20%</a:t>
            </a:r>
            <a:r>
              <a:rPr lang="fr" sz="1400">
                <a:solidFill>
                  <a:srgbClr val="000000"/>
                </a:solidFill>
              </a:rPr>
              <a:t> of total segments (∼13,000 segments in total), used weighted loss in training.</a:t>
            </a:r>
            <a:br>
              <a:rPr lang="fr" sz="1400">
                <a:solidFill>
                  <a:srgbClr val="000000"/>
                </a:solidFill>
              </a:rPr>
            </a:br>
            <a:endParaRPr sz="1400">
              <a:solidFill>
                <a:srgbClr val="000000"/>
              </a:solidFill>
            </a:endParaRPr>
          </a:p>
          <a:p>
            <a:pPr marL="457200" lvl="0" indent="-369570" algn="l" rtl="0">
              <a:spcBef>
                <a:spcPts val="0"/>
              </a:spcBef>
              <a:spcAft>
                <a:spcPts val="0"/>
              </a:spcAft>
              <a:buSzPts val="2220"/>
              <a:buChar char="-"/>
            </a:pPr>
            <a:r>
              <a:rPr lang="fr" sz="1400" b="1">
                <a:solidFill>
                  <a:srgbClr val="000000"/>
                </a:solidFill>
              </a:rPr>
              <a:t>Preprocessing</a:t>
            </a:r>
            <a:r>
              <a:rPr lang="fr" sz="1400">
                <a:solidFill>
                  <a:srgbClr val="000000"/>
                </a:solidFill>
              </a:rPr>
              <a:t> — Signals were </a:t>
            </a:r>
            <a:r>
              <a:rPr lang="fr" sz="1400" b="1">
                <a:solidFill>
                  <a:srgbClr val="000000"/>
                </a:solidFill>
              </a:rPr>
              <a:t>band-pass filtered (0.5–30 Hz)</a:t>
            </a:r>
            <a:r>
              <a:rPr lang="fr" sz="1400">
                <a:solidFill>
                  <a:srgbClr val="000000"/>
                </a:solidFill>
              </a:rPr>
              <a:t> to focus on relevant brain activity, and transformed with </a:t>
            </a:r>
            <a:r>
              <a:rPr lang="fr" sz="1400" b="1">
                <a:solidFill>
                  <a:srgbClr val="000000"/>
                </a:solidFill>
              </a:rPr>
              <a:t>FFT</a:t>
            </a:r>
            <a:r>
              <a:rPr lang="fr" sz="1400">
                <a:solidFill>
                  <a:srgbClr val="000000"/>
                </a:solidFill>
              </a:rPr>
              <a:t> for frequency-domain features; both </a:t>
            </a:r>
            <a:r>
              <a:rPr lang="fr" sz="1400" b="1">
                <a:solidFill>
                  <a:srgbClr val="000000"/>
                </a:solidFill>
              </a:rPr>
              <a:t>time-domain and frequency-domain representations</a:t>
            </a:r>
            <a:r>
              <a:rPr lang="fr" sz="1400">
                <a:solidFill>
                  <a:srgbClr val="000000"/>
                </a:solidFill>
              </a:rPr>
              <a:t> were explored.</a:t>
            </a:r>
            <a:endParaRPr sz="2400"/>
          </a:p>
        </p:txBody>
      </p:sp>
      <p:sp>
        <p:nvSpPr>
          <p:cNvPr id="181" name="Google Shape;181;p31"/>
          <p:cNvSpPr txBox="1">
            <a:spLocks noGrp="1"/>
          </p:cNvSpPr>
          <p:nvPr>
            <p:ph type="title"/>
          </p:nvPr>
        </p:nvSpPr>
        <p:spPr>
          <a:xfrm>
            <a:off x="904875" y="131025"/>
            <a:ext cx="56952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Dataset and Preprocessing</a:t>
            </a:r>
            <a:endParaRPr/>
          </a:p>
        </p:txBody>
      </p:sp>
      <p:sp>
        <p:nvSpPr>
          <p:cNvPr id="182" name="Google Shape;182;p31"/>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183" name="Google Shape;183;p31"/>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184" name="Google Shape;184;p31"/>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3</a:t>
            </a:fld>
            <a:endParaRPr/>
          </a:p>
        </p:txBody>
      </p:sp>
      <p:pic>
        <p:nvPicPr>
          <p:cNvPr id="185" name="Google Shape;185;p31" title="10-20.png"/>
          <p:cNvPicPr preferRelativeResize="0"/>
          <p:nvPr/>
        </p:nvPicPr>
        <p:blipFill>
          <a:blip r:embed="rId3">
            <a:alphaModFix/>
          </a:blip>
          <a:stretch>
            <a:fillRect/>
          </a:stretch>
        </p:blipFill>
        <p:spPr>
          <a:xfrm>
            <a:off x="6886575" y="0"/>
            <a:ext cx="1625175" cy="1630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2"/>
          <p:cNvSpPr txBox="1">
            <a:spLocks noGrp="1"/>
          </p:cNvSpPr>
          <p:nvPr>
            <p:ph type="body" idx="1"/>
          </p:nvPr>
        </p:nvSpPr>
        <p:spPr>
          <a:xfrm>
            <a:off x="904875" y="3083513"/>
            <a:ext cx="7726500" cy="33867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b="1">
                <a:solidFill>
                  <a:srgbClr val="000000"/>
                </a:solidFill>
              </a:rPr>
              <a:t>Bidirectional LSTM</a:t>
            </a:r>
            <a:r>
              <a:rPr lang="fr" sz="1400">
                <a:solidFill>
                  <a:srgbClr val="000000"/>
                </a:solidFill>
              </a:rPr>
              <a:t> — Processes sequences in both forward and backward directions, capturing </a:t>
            </a:r>
            <a:r>
              <a:rPr lang="fr" sz="1400" b="1">
                <a:solidFill>
                  <a:srgbClr val="000000"/>
                </a:solidFill>
              </a:rPr>
              <a:t>complex temporal dependencies</a:t>
            </a:r>
            <a:r>
              <a:rPr lang="fr" sz="1400">
                <a:solidFill>
                  <a:srgbClr val="000000"/>
                </a:solidFill>
              </a:rPr>
              <a:t> in EEG signals.</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Provides context</a:t>
            </a:r>
            <a:r>
              <a:rPr lang="fr" sz="1400">
                <a:solidFill>
                  <a:srgbClr val="000000"/>
                </a:solidFill>
              </a:rPr>
              <a:t> from both past and future time steps, which can be crucial for </a:t>
            </a:r>
            <a:r>
              <a:rPr lang="fr" sz="1400" b="1">
                <a:solidFill>
                  <a:srgbClr val="000000"/>
                </a:solidFill>
              </a:rPr>
              <a:t>detecting seizures with subtle and context-dependent patterns</a:t>
            </a:r>
            <a:r>
              <a:rPr lang="fr" sz="1400">
                <a:solidFill>
                  <a:srgbClr val="000000"/>
                </a:solidFill>
              </a:rPr>
              <a:t>.</a:t>
            </a:r>
            <a:endParaRPr sz="2100"/>
          </a:p>
        </p:txBody>
      </p:sp>
      <p:sp>
        <p:nvSpPr>
          <p:cNvPr id="191" name="Google Shape;191;p32"/>
          <p:cNvSpPr txBox="1">
            <a:spLocks noGrp="1"/>
          </p:cNvSpPr>
          <p:nvPr>
            <p:ph type="title"/>
          </p:nvPr>
        </p:nvSpPr>
        <p:spPr>
          <a:xfrm>
            <a:off x="904875" y="131025"/>
            <a:ext cx="62298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Baseline Methods: BiLSTM</a:t>
            </a:r>
            <a:endParaRPr/>
          </a:p>
        </p:txBody>
      </p:sp>
      <p:sp>
        <p:nvSpPr>
          <p:cNvPr id="192" name="Google Shape;192;p32"/>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193" name="Google Shape;193;p32"/>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194" name="Google Shape;194;p32"/>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4</a:t>
            </a:fld>
            <a:endParaRPr/>
          </a:p>
        </p:txBody>
      </p:sp>
      <p:pic>
        <p:nvPicPr>
          <p:cNvPr id="195" name="Google Shape;195;p32"/>
          <p:cNvPicPr preferRelativeResize="0"/>
          <p:nvPr/>
        </p:nvPicPr>
        <p:blipFill>
          <a:blip r:embed="rId3">
            <a:alphaModFix/>
          </a:blip>
          <a:stretch>
            <a:fillRect/>
          </a:stretch>
        </p:blipFill>
        <p:spPr>
          <a:xfrm>
            <a:off x="2391450" y="721600"/>
            <a:ext cx="3894523" cy="2190675"/>
          </a:xfrm>
          <a:prstGeom prst="rect">
            <a:avLst/>
          </a:prstGeom>
          <a:noFill/>
          <a:ln>
            <a:noFill/>
          </a:ln>
        </p:spPr>
      </p:pic>
      <p:sp>
        <p:nvSpPr>
          <p:cNvPr id="196" name="Google Shape;196;p32"/>
          <p:cNvSpPr txBox="1"/>
          <p:nvPr/>
        </p:nvSpPr>
        <p:spPr>
          <a:xfrm>
            <a:off x="2329000" y="2637750"/>
            <a:ext cx="5235000" cy="2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800">
                <a:solidFill>
                  <a:schemeClr val="dk1"/>
                </a:solidFill>
              </a:rPr>
              <a:t>Image Credits: </a:t>
            </a:r>
            <a:r>
              <a:rPr lang="fr" sz="800" u="sng">
                <a:solidFill>
                  <a:schemeClr val="hlink"/>
                </a:solidFill>
                <a:hlinkClick r:id="rId4"/>
              </a:rPr>
              <a:t>Medium Article</a:t>
            </a:r>
            <a:endParaRPr sz="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3"/>
          <p:cNvSpPr txBox="1">
            <a:spLocks noGrp="1"/>
          </p:cNvSpPr>
          <p:nvPr>
            <p:ph type="body" idx="1"/>
          </p:nvPr>
        </p:nvSpPr>
        <p:spPr>
          <a:xfrm>
            <a:off x="1019350" y="2907575"/>
            <a:ext cx="7497300" cy="1989000"/>
          </a:xfrm>
          <a:prstGeom prst="rect">
            <a:avLst/>
          </a:prstGeom>
          <a:noFill/>
          <a:ln>
            <a:noFill/>
          </a:ln>
        </p:spPr>
        <p:txBody>
          <a:bodyPr spcFirstLastPara="1" wrap="square" lIns="180000" tIns="45700" rIns="91425" bIns="45700" anchor="t" anchorCtr="0">
            <a:noAutofit/>
          </a:bodyPr>
          <a:lstStyle/>
          <a:p>
            <a:pPr marL="457200" lvl="0" indent="-317500" algn="l" rtl="0">
              <a:lnSpc>
                <a:spcPct val="115000"/>
              </a:lnSpc>
              <a:spcBef>
                <a:spcPts val="0"/>
              </a:spcBef>
              <a:spcAft>
                <a:spcPts val="0"/>
              </a:spcAft>
              <a:buSzPts val="1400"/>
              <a:buChar char="-"/>
            </a:pPr>
            <a:r>
              <a:rPr lang="fr" sz="1400">
                <a:solidFill>
                  <a:srgbClr val="000000"/>
                </a:solidFill>
              </a:rPr>
              <a:t>The </a:t>
            </a:r>
            <a:r>
              <a:rPr lang="fr" sz="1400" b="1">
                <a:solidFill>
                  <a:srgbClr val="000000"/>
                </a:solidFill>
              </a:rPr>
              <a:t>ResNet-LSTM</a:t>
            </a:r>
            <a:r>
              <a:rPr lang="fr" sz="1400">
                <a:solidFill>
                  <a:srgbClr val="000000"/>
                </a:solidFill>
              </a:rPr>
              <a:t> architecture leverages residual learning to enable deep CNNs to capture the temporal features from EEG signals.</a:t>
            </a:r>
            <a:endParaRPr sz="1400">
              <a:solidFill>
                <a:srgbClr val="000000"/>
              </a:solidFill>
            </a:endParaRPr>
          </a:p>
          <a:p>
            <a:pPr marL="457200" lvl="0" indent="0" algn="l" rtl="0">
              <a:lnSpc>
                <a:spcPct val="115000"/>
              </a:lnSpc>
              <a:spcBef>
                <a:spcPts val="0"/>
              </a:spcBef>
              <a:spcAft>
                <a:spcPts val="0"/>
              </a:spcAft>
              <a:buNone/>
            </a:pPr>
            <a:endParaRPr sz="1400">
              <a:solidFill>
                <a:srgbClr val="000000"/>
              </a:solidFill>
            </a:endParaRPr>
          </a:p>
          <a:p>
            <a:pPr marL="457200" lvl="0" indent="-317500" algn="l" rtl="0">
              <a:lnSpc>
                <a:spcPct val="115000"/>
              </a:lnSpc>
              <a:spcBef>
                <a:spcPts val="0"/>
              </a:spcBef>
              <a:spcAft>
                <a:spcPts val="0"/>
              </a:spcAft>
              <a:buSzPts val="1400"/>
              <a:buChar char="-"/>
            </a:pPr>
            <a:r>
              <a:rPr lang="fr" sz="1400">
                <a:solidFill>
                  <a:srgbClr val="000000"/>
                </a:solidFill>
              </a:rPr>
              <a:t>The 1D ResNet extracts </a:t>
            </a:r>
            <a:r>
              <a:rPr lang="fr" sz="1400" b="1">
                <a:solidFill>
                  <a:srgbClr val="000000"/>
                </a:solidFill>
              </a:rPr>
              <a:t>temporal</a:t>
            </a:r>
            <a:r>
              <a:rPr lang="fr" sz="1400">
                <a:solidFill>
                  <a:srgbClr val="000000"/>
                </a:solidFill>
              </a:rPr>
              <a:t> features, which are reshaped into a time series and fed into an LSTM that effectively learns the long-term dependencies in the data and important temporal features.</a:t>
            </a:r>
            <a:endParaRPr sz="1400"/>
          </a:p>
          <a:p>
            <a:pPr marL="0" lvl="0" indent="0" algn="l" rtl="0">
              <a:lnSpc>
                <a:spcPct val="90000"/>
              </a:lnSpc>
              <a:spcBef>
                <a:spcPts val="0"/>
              </a:spcBef>
              <a:spcAft>
                <a:spcPts val="0"/>
              </a:spcAft>
              <a:buNone/>
            </a:pPr>
            <a:endParaRPr/>
          </a:p>
        </p:txBody>
      </p:sp>
      <p:sp>
        <p:nvSpPr>
          <p:cNvPr id="202" name="Google Shape;202;p33"/>
          <p:cNvSpPr txBox="1">
            <a:spLocks noGrp="1"/>
          </p:cNvSpPr>
          <p:nvPr>
            <p:ph type="title"/>
          </p:nvPr>
        </p:nvSpPr>
        <p:spPr>
          <a:xfrm>
            <a:off x="904875" y="131025"/>
            <a:ext cx="6905400" cy="5286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Baseline Methods: Resnet-LSTM</a:t>
            </a:r>
            <a:endParaRPr/>
          </a:p>
        </p:txBody>
      </p:sp>
      <p:sp>
        <p:nvSpPr>
          <p:cNvPr id="203" name="Google Shape;203;p33"/>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04" name="Google Shape;204;p33"/>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 </a:t>
            </a:r>
            <a:endParaRPr/>
          </a:p>
        </p:txBody>
      </p:sp>
      <p:sp>
        <p:nvSpPr>
          <p:cNvPr id="205" name="Google Shape;205;p33"/>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5</a:t>
            </a:fld>
            <a:endParaRPr/>
          </a:p>
        </p:txBody>
      </p:sp>
      <p:pic>
        <p:nvPicPr>
          <p:cNvPr id="206" name="Google Shape;206;p33" title="cnn_lstm_arch.png"/>
          <p:cNvPicPr preferRelativeResize="0"/>
          <p:nvPr/>
        </p:nvPicPr>
        <p:blipFill rotWithShape="1">
          <a:blip r:embed="rId3">
            <a:alphaModFix/>
          </a:blip>
          <a:srcRect l="1485" r="3870"/>
          <a:stretch/>
        </p:blipFill>
        <p:spPr>
          <a:xfrm>
            <a:off x="1864300" y="659625"/>
            <a:ext cx="5578448" cy="1676124"/>
          </a:xfrm>
          <a:prstGeom prst="rect">
            <a:avLst/>
          </a:prstGeom>
          <a:noFill/>
          <a:ln>
            <a:noFill/>
          </a:ln>
        </p:spPr>
      </p:pic>
      <p:sp>
        <p:nvSpPr>
          <p:cNvPr id="207" name="Google Shape;207;p33"/>
          <p:cNvSpPr txBox="1"/>
          <p:nvPr/>
        </p:nvSpPr>
        <p:spPr>
          <a:xfrm>
            <a:off x="2602025" y="2290075"/>
            <a:ext cx="5914500" cy="3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800">
                <a:solidFill>
                  <a:schemeClr val="dk1"/>
                </a:solidFill>
              </a:rPr>
              <a:t>Image credits: </a:t>
            </a:r>
            <a:r>
              <a:rPr lang="fr" sz="800" u="sng">
                <a:solidFill>
                  <a:schemeClr val="hlink"/>
                </a:solidFill>
                <a:hlinkClick r:id="rId4"/>
              </a:rPr>
              <a:t>EEG-Based Classification of Epileptic Seizure Types Using Deep Network Model</a:t>
            </a:r>
            <a:endParaRPr sz="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body" idx="1"/>
          </p:nvPr>
        </p:nvSpPr>
        <p:spPr>
          <a:xfrm>
            <a:off x="1062900" y="3019549"/>
            <a:ext cx="7018200" cy="1928700"/>
          </a:xfrm>
          <a:prstGeom prst="rect">
            <a:avLst/>
          </a:prstGeom>
          <a:noFill/>
          <a:ln>
            <a:noFill/>
          </a:ln>
        </p:spPr>
        <p:txBody>
          <a:bodyPr spcFirstLastPara="1" wrap="square" lIns="180000" tIns="45700" rIns="91425" bIns="45700" anchor="t" anchorCtr="0">
            <a:normAutofit fontScale="85000" lnSpcReduction="20000"/>
          </a:bodyPr>
          <a:lstStyle/>
          <a:p>
            <a:pPr marL="0" lvl="0" indent="0" algn="l" rtl="0">
              <a:lnSpc>
                <a:spcPct val="100000"/>
              </a:lnSpc>
              <a:spcBef>
                <a:spcPts val="0"/>
              </a:spcBef>
              <a:spcAft>
                <a:spcPts val="0"/>
              </a:spcAft>
              <a:buNone/>
            </a:pPr>
            <a:r>
              <a:rPr lang="fr"/>
              <a:t>S4: Structured State Space Sequence modeling</a:t>
            </a:r>
            <a:endParaRPr/>
          </a:p>
          <a:p>
            <a:pPr marL="0" lvl="0" indent="0" algn="l" rtl="0">
              <a:lnSpc>
                <a:spcPct val="100000"/>
              </a:lnSpc>
              <a:spcBef>
                <a:spcPts val="0"/>
              </a:spcBef>
              <a:spcAft>
                <a:spcPts val="0"/>
              </a:spcAft>
              <a:buNone/>
            </a:pPr>
            <a:endParaRPr/>
          </a:p>
          <a:p>
            <a:pPr marL="457200" lvl="0" indent="-314960" algn="l" rtl="0">
              <a:lnSpc>
                <a:spcPct val="100000"/>
              </a:lnSpc>
              <a:spcBef>
                <a:spcPts val="0"/>
              </a:spcBef>
              <a:spcAft>
                <a:spcPts val="0"/>
              </a:spcAft>
              <a:buSzPct val="100000"/>
              <a:buChar char="-"/>
            </a:pPr>
            <a:r>
              <a:rPr lang="fr" sz="1600" b="1">
                <a:solidFill>
                  <a:srgbClr val="000000"/>
                </a:solidFill>
              </a:rPr>
              <a:t>Captures long-range dependencies</a:t>
            </a:r>
            <a:r>
              <a:rPr lang="fr" sz="1600">
                <a:solidFill>
                  <a:srgbClr val="000000"/>
                </a:solidFill>
              </a:rPr>
              <a:t> by applying S4 layers to </a:t>
            </a:r>
            <a:r>
              <a:rPr lang="fr" sz="1600" b="1">
                <a:solidFill>
                  <a:srgbClr val="000000"/>
                </a:solidFill>
              </a:rPr>
              <a:t>frequency-domain data</a:t>
            </a:r>
            <a:r>
              <a:rPr lang="fr" sz="1600">
                <a:solidFill>
                  <a:srgbClr val="000000"/>
                </a:solidFill>
              </a:rPr>
              <a:t> from each EEG channel.</a:t>
            </a:r>
            <a:br>
              <a:rPr lang="fr" sz="1600">
                <a:solidFill>
                  <a:srgbClr val="000000"/>
                </a:solidFill>
              </a:rPr>
            </a:br>
            <a:endParaRPr sz="1600">
              <a:solidFill>
                <a:srgbClr val="000000"/>
              </a:solidFill>
            </a:endParaRPr>
          </a:p>
          <a:p>
            <a:pPr marL="457200" lvl="0" indent="-314960" algn="l" rtl="0">
              <a:lnSpc>
                <a:spcPct val="100000"/>
              </a:lnSpc>
              <a:spcBef>
                <a:spcPts val="0"/>
              </a:spcBef>
              <a:spcAft>
                <a:spcPts val="0"/>
              </a:spcAft>
              <a:buSzPct val="100000"/>
              <a:buChar char="-"/>
            </a:pPr>
            <a:r>
              <a:rPr lang="fr" sz="1600" b="1">
                <a:solidFill>
                  <a:srgbClr val="000000"/>
                </a:solidFill>
              </a:rPr>
              <a:t>Generates a unified representation</a:t>
            </a:r>
            <a:r>
              <a:rPr lang="fr" sz="1600">
                <a:solidFill>
                  <a:srgbClr val="000000"/>
                </a:solidFill>
              </a:rPr>
              <a:t> by </a:t>
            </a:r>
            <a:r>
              <a:rPr lang="fr" sz="1600" b="1">
                <a:solidFill>
                  <a:srgbClr val="000000"/>
                </a:solidFill>
              </a:rPr>
              <a:t>mean pooling</a:t>
            </a:r>
            <a:r>
              <a:rPr lang="fr" sz="1600">
                <a:solidFill>
                  <a:srgbClr val="000000"/>
                </a:solidFill>
              </a:rPr>
              <a:t> across temporal frames and channels before proceeding to the classifier.</a:t>
            </a:r>
            <a:endParaRPr sz="1600"/>
          </a:p>
          <a:p>
            <a:pPr marL="45720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p:txBody>
      </p:sp>
      <p:sp>
        <p:nvSpPr>
          <p:cNvPr id="213" name="Google Shape;213;p34"/>
          <p:cNvSpPr txBox="1">
            <a:spLocks noGrp="1"/>
          </p:cNvSpPr>
          <p:nvPr>
            <p:ph type="title"/>
          </p:nvPr>
        </p:nvSpPr>
        <p:spPr>
          <a:xfrm>
            <a:off x="904875" y="131025"/>
            <a:ext cx="55545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Baseline Methods: S4</a:t>
            </a:r>
            <a:endParaRPr/>
          </a:p>
        </p:txBody>
      </p:sp>
      <p:sp>
        <p:nvSpPr>
          <p:cNvPr id="214" name="Google Shape;214;p34"/>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15" name="Google Shape;215;p34"/>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16" name="Google Shape;216;p34"/>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6</a:t>
            </a:fld>
            <a:endParaRPr/>
          </a:p>
        </p:txBody>
      </p:sp>
      <p:pic>
        <p:nvPicPr>
          <p:cNvPr id="217" name="Google Shape;217;p34" title="s4.png"/>
          <p:cNvPicPr preferRelativeResize="0"/>
          <p:nvPr/>
        </p:nvPicPr>
        <p:blipFill>
          <a:blip r:embed="rId3">
            <a:alphaModFix/>
          </a:blip>
          <a:stretch>
            <a:fillRect/>
          </a:stretch>
        </p:blipFill>
        <p:spPr>
          <a:xfrm>
            <a:off x="2172175" y="777874"/>
            <a:ext cx="4150999" cy="1315450"/>
          </a:xfrm>
          <a:prstGeom prst="rect">
            <a:avLst/>
          </a:prstGeom>
          <a:noFill/>
          <a:ln>
            <a:noFill/>
          </a:ln>
        </p:spPr>
      </p:pic>
      <p:sp>
        <p:nvSpPr>
          <p:cNvPr id="218" name="Google Shape;218;p34"/>
          <p:cNvSpPr txBox="1"/>
          <p:nvPr/>
        </p:nvSpPr>
        <p:spPr>
          <a:xfrm>
            <a:off x="1954500" y="2235975"/>
            <a:ext cx="5235000" cy="2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800">
                <a:solidFill>
                  <a:schemeClr val="dk1"/>
                </a:solidFill>
              </a:rPr>
              <a:t>Image Credits: </a:t>
            </a:r>
            <a:r>
              <a:rPr lang="fr" sz="800" u="sng">
                <a:solidFill>
                  <a:schemeClr val="hlink"/>
                </a:solidFill>
                <a:hlinkClick r:id="rId4"/>
              </a:rPr>
              <a:t>Efficiently Modeling Long Sequences with Structured State Spaces</a:t>
            </a:r>
            <a:endParaRPr sz="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5"/>
          <p:cNvSpPr txBox="1">
            <a:spLocks noGrp="1"/>
          </p:cNvSpPr>
          <p:nvPr>
            <p:ph type="body" idx="1"/>
          </p:nvPr>
        </p:nvSpPr>
        <p:spPr>
          <a:xfrm>
            <a:off x="904750" y="3469669"/>
            <a:ext cx="7726500" cy="16284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a:solidFill>
                  <a:srgbClr val="000000"/>
                </a:solidFill>
              </a:rPr>
              <a:t>Nodes correspond to electrodes with </a:t>
            </a:r>
            <a:r>
              <a:rPr lang="fr" sz="1400" b="1">
                <a:solidFill>
                  <a:srgbClr val="000000"/>
                </a:solidFill>
              </a:rPr>
              <a:t>features</a:t>
            </a:r>
            <a:r>
              <a:rPr lang="fr" sz="1400">
                <a:solidFill>
                  <a:srgbClr val="000000"/>
                </a:solidFill>
              </a:rPr>
              <a:t> obtained from </a:t>
            </a:r>
            <a:r>
              <a:rPr lang="fr" sz="1400" b="1">
                <a:solidFill>
                  <a:srgbClr val="000000"/>
                </a:solidFill>
              </a:rPr>
              <a:t>FFT </a:t>
            </a:r>
            <a:r>
              <a:rPr lang="fr" sz="1400">
                <a:solidFill>
                  <a:srgbClr val="000000"/>
                </a:solidFill>
              </a:rPr>
              <a:t>of the time series obtained from that electrode.</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Captures spatial dependencies</a:t>
            </a:r>
            <a:r>
              <a:rPr lang="fr" sz="1400">
                <a:solidFill>
                  <a:srgbClr val="000000"/>
                </a:solidFill>
              </a:rPr>
              <a:t> between electrodes and feeds them into a classifier for final seizure prediction.</a:t>
            </a:r>
            <a:endParaRPr sz="2100"/>
          </a:p>
        </p:txBody>
      </p:sp>
      <p:sp>
        <p:nvSpPr>
          <p:cNvPr id="224" name="Google Shape;224;p35"/>
          <p:cNvSpPr txBox="1">
            <a:spLocks noGrp="1"/>
          </p:cNvSpPr>
          <p:nvPr>
            <p:ph type="title"/>
          </p:nvPr>
        </p:nvSpPr>
        <p:spPr>
          <a:xfrm>
            <a:off x="904875" y="131025"/>
            <a:ext cx="72642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Graph Based Methods: GNN</a:t>
            </a:r>
            <a:endParaRPr/>
          </a:p>
        </p:txBody>
      </p:sp>
      <p:sp>
        <p:nvSpPr>
          <p:cNvPr id="225" name="Google Shape;225;p35"/>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26" name="Google Shape;226;p35"/>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27" name="Google Shape;227;p35"/>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7</a:t>
            </a:fld>
            <a:endParaRPr/>
          </a:p>
        </p:txBody>
      </p:sp>
      <p:pic>
        <p:nvPicPr>
          <p:cNvPr id="228" name="Google Shape;228;p35"/>
          <p:cNvPicPr preferRelativeResize="0"/>
          <p:nvPr/>
        </p:nvPicPr>
        <p:blipFill>
          <a:blip r:embed="rId3">
            <a:alphaModFix/>
          </a:blip>
          <a:stretch>
            <a:fillRect/>
          </a:stretch>
        </p:blipFill>
        <p:spPr>
          <a:xfrm>
            <a:off x="3062283" y="912370"/>
            <a:ext cx="4252925" cy="2202299"/>
          </a:xfrm>
          <a:prstGeom prst="rect">
            <a:avLst/>
          </a:prstGeom>
          <a:noFill/>
          <a:ln>
            <a:noFill/>
          </a:ln>
        </p:spPr>
      </p:pic>
      <p:sp>
        <p:nvSpPr>
          <p:cNvPr id="229" name="Google Shape;229;p35"/>
          <p:cNvSpPr txBox="1"/>
          <p:nvPr/>
        </p:nvSpPr>
        <p:spPr>
          <a:xfrm>
            <a:off x="2988250" y="3186575"/>
            <a:ext cx="5235000" cy="2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800">
                <a:solidFill>
                  <a:schemeClr val="dk1"/>
                </a:solidFill>
              </a:rPr>
              <a:t>Image Credits: </a:t>
            </a:r>
            <a:r>
              <a:rPr lang="fr" sz="800" u="sng">
                <a:solidFill>
                  <a:schemeClr val="hlink"/>
                </a:solidFill>
                <a:hlinkClick r:id="rId4"/>
              </a:rPr>
              <a:t>AI Summer Blog</a:t>
            </a:r>
            <a:endParaRPr sz="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6"/>
          <p:cNvSpPr txBox="1">
            <a:spLocks noGrp="1"/>
          </p:cNvSpPr>
          <p:nvPr>
            <p:ph type="body" idx="1"/>
          </p:nvPr>
        </p:nvSpPr>
        <p:spPr>
          <a:xfrm>
            <a:off x="904875" y="2886513"/>
            <a:ext cx="7726500" cy="33867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b="1">
                <a:solidFill>
                  <a:srgbClr val="000000"/>
                </a:solidFill>
              </a:rPr>
              <a:t>Combines temporal and spatial modeling</a:t>
            </a:r>
            <a:r>
              <a:rPr lang="fr" sz="1400">
                <a:solidFill>
                  <a:srgbClr val="000000"/>
                </a:solidFill>
              </a:rPr>
              <a:t> — BiLSTM first produces temporal embeddings for each electrode, then GNN aggregates information from neighboring nodes.</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Graph-level representation</a:t>
            </a:r>
            <a:r>
              <a:rPr lang="fr" sz="1400">
                <a:solidFill>
                  <a:srgbClr val="000000"/>
                </a:solidFill>
              </a:rPr>
              <a:t> is fed into a classifier; implemented in </a:t>
            </a:r>
            <a:r>
              <a:rPr lang="fr" sz="1400" b="1">
                <a:solidFill>
                  <a:srgbClr val="000000"/>
                </a:solidFill>
              </a:rPr>
              <a:t>three variants</a:t>
            </a:r>
            <a:r>
              <a:rPr lang="fr" sz="1400">
                <a:solidFill>
                  <a:srgbClr val="000000"/>
                </a:solidFill>
              </a:rPr>
              <a:t> (BiLSTM + GCN, BiLSTM + GAT, BiLSTM + Graph Transformer), all with a </a:t>
            </a:r>
            <a:r>
              <a:rPr lang="fr" sz="1400" b="1">
                <a:solidFill>
                  <a:srgbClr val="000000"/>
                </a:solidFill>
              </a:rPr>
              <a:t>common architecture</a:t>
            </a:r>
            <a:r>
              <a:rPr lang="fr" sz="1400">
                <a:solidFill>
                  <a:srgbClr val="000000"/>
                </a:solidFill>
              </a:rPr>
              <a:t> (3-layer BiLSTM + 3-layer GNN with residual connections).</a:t>
            </a:r>
            <a:endParaRPr sz="2100"/>
          </a:p>
        </p:txBody>
      </p:sp>
      <p:sp>
        <p:nvSpPr>
          <p:cNvPr id="235" name="Google Shape;235;p36"/>
          <p:cNvSpPr txBox="1">
            <a:spLocks noGrp="1"/>
          </p:cNvSpPr>
          <p:nvPr>
            <p:ph type="title"/>
          </p:nvPr>
        </p:nvSpPr>
        <p:spPr>
          <a:xfrm>
            <a:off x="904875" y="131025"/>
            <a:ext cx="77850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Graph Based Methods: LSTM-GNN</a:t>
            </a:r>
            <a:endParaRPr/>
          </a:p>
        </p:txBody>
      </p:sp>
      <p:sp>
        <p:nvSpPr>
          <p:cNvPr id="236" name="Google Shape;236;p36"/>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37" name="Google Shape;237;p36"/>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38" name="Google Shape;238;p36"/>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8</a:t>
            </a:fld>
            <a:endParaRPr/>
          </a:p>
        </p:txBody>
      </p:sp>
      <p:sp>
        <p:nvSpPr>
          <p:cNvPr id="239" name="Google Shape;239;p36"/>
          <p:cNvSpPr/>
          <p:nvPr/>
        </p:nvSpPr>
        <p:spPr>
          <a:xfrm>
            <a:off x="2276975" y="777863"/>
            <a:ext cx="780000" cy="17493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LSTM</a:t>
            </a:r>
            <a:endParaRPr/>
          </a:p>
        </p:txBody>
      </p:sp>
      <p:sp>
        <p:nvSpPr>
          <p:cNvPr id="240" name="Google Shape;240;p36"/>
          <p:cNvSpPr/>
          <p:nvPr/>
        </p:nvSpPr>
        <p:spPr>
          <a:xfrm>
            <a:off x="3746113" y="777863"/>
            <a:ext cx="780000" cy="17493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cxnSp>
        <p:nvCxnSpPr>
          <p:cNvPr id="241" name="Google Shape;241;p36"/>
          <p:cNvCxnSpPr/>
          <p:nvPr/>
        </p:nvCxnSpPr>
        <p:spPr>
          <a:xfrm rot="10800000" flipH="1">
            <a:off x="3056975" y="1647125"/>
            <a:ext cx="710400" cy="10800"/>
          </a:xfrm>
          <a:prstGeom prst="straightConnector1">
            <a:avLst/>
          </a:prstGeom>
          <a:noFill/>
          <a:ln w="9525" cap="flat" cmpd="sng">
            <a:solidFill>
              <a:schemeClr val="dk2"/>
            </a:solidFill>
            <a:prstDash val="solid"/>
            <a:round/>
            <a:headEnd type="none" w="med" len="med"/>
            <a:tailEnd type="triangle" w="med" len="med"/>
          </a:ln>
        </p:spPr>
      </p:cxnSp>
      <p:sp>
        <p:nvSpPr>
          <p:cNvPr id="242" name="Google Shape;242;p36"/>
          <p:cNvSpPr/>
          <p:nvPr/>
        </p:nvSpPr>
        <p:spPr>
          <a:xfrm>
            <a:off x="5215275" y="1965388"/>
            <a:ext cx="1150800" cy="4989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Classifier</a:t>
            </a:r>
            <a:endParaRPr/>
          </a:p>
        </p:txBody>
      </p:sp>
      <p:sp>
        <p:nvSpPr>
          <p:cNvPr id="243" name="Google Shape;243;p36"/>
          <p:cNvSpPr/>
          <p:nvPr/>
        </p:nvSpPr>
        <p:spPr>
          <a:xfrm>
            <a:off x="6975950" y="1965388"/>
            <a:ext cx="1299900" cy="4989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Seizure/</a:t>
            </a:r>
            <a:endParaRPr/>
          </a:p>
          <a:p>
            <a:pPr marL="0" lvl="0" indent="0" algn="ctr" rtl="0">
              <a:spcBef>
                <a:spcPts val="0"/>
              </a:spcBef>
              <a:spcAft>
                <a:spcPts val="0"/>
              </a:spcAft>
              <a:buNone/>
            </a:pPr>
            <a:r>
              <a:rPr lang="fr"/>
              <a:t>No Seizure</a:t>
            </a:r>
            <a:endParaRPr/>
          </a:p>
        </p:txBody>
      </p:sp>
      <p:cxnSp>
        <p:nvCxnSpPr>
          <p:cNvPr id="244" name="Google Shape;244;p36"/>
          <p:cNvCxnSpPr/>
          <p:nvPr/>
        </p:nvCxnSpPr>
        <p:spPr>
          <a:xfrm rot="10800000" flipH="1">
            <a:off x="4526125" y="2212738"/>
            <a:ext cx="708300" cy="4200"/>
          </a:xfrm>
          <a:prstGeom prst="straightConnector1">
            <a:avLst/>
          </a:prstGeom>
          <a:noFill/>
          <a:ln w="9525" cap="flat" cmpd="sng">
            <a:solidFill>
              <a:schemeClr val="dk2"/>
            </a:solidFill>
            <a:prstDash val="solid"/>
            <a:round/>
            <a:headEnd type="none" w="med" len="med"/>
            <a:tailEnd type="triangle" w="med" len="med"/>
          </a:ln>
        </p:spPr>
      </p:cxnSp>
      <p:cxnSp>
        <p:nvCxnSpPr>
          <p:cNvPr id="245" name="Google Shape;245;p36"/>
          <p:cNvCxnSpPr/>
          <p:nvPr/>
        </p:nvCxnSpPr>
        <p:spPr>
          <a:xfrm>
            <a:off x="6366075" y="2214838"/>
            <a:ext cx="609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7"/>
          <p:cNvSpPr txBox="1">
            <a:spLocks noGrp="1"/>
          </p:cNvSpPr>
          <p:nvPr>
            <p:ph type="body" idx="1"/>
          </p:nvPr>
        </p:nvSpPr>
        <p:spPr>
          <a:xfrm>
            <a:off x="934125" y="3002445"/>
            <a:ext cx="7726500" cy="19458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b="1">
                <a:solidFill>
                  <a:srgbClr val="000000"/>
                </a:solidFill>
              </a:rPr>
              <a:t>Combines spatial and temporal modeling</a:t>
            </a:r>
            <a:r>
              <a:rPr lang="fr" sz="1400">
                <a:solidFill>
                  <a:srgbClr val="000000"/>
                </a:solidFill>
              </a:rPr>
              <a:t> — The data at each time step are processed by separate GNNs. These features are then concatenated over time to form sequences that are inputted into the LSTM.</a:t>
            </a:r>
            <a:br>
              <a:rPr lang="fr" sz="1400">
                <a:solidFill>
                  <a:srgbClr val="000000"/>
                </a:solidFill>
              </a:rPr>
            </a:b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LSTM last node output </a:t>
            </a:r>
            <a:r>
              <a:rPr lang="fr" sz="1400">
                <a:solidFill>
                  <a:srgbClr val="000000"/>
                </a:solidFill>
              </a:rPr>
              <a:t>is fed into a classifier; implemented in </a:t>
            </a:r>
            <a:r>
              <a:rPr lang="fr" sz="1400" b="1">
                <a:solidFill>
                  <a:srgbClr val="000000"/>
                </a:solidFill>
              </a:rPr>
              <a:t>three variants</a:t>
            </a:r>
            <a:r>
              <a:rPr lang="fr" sz="1400">
                <a:solidFill>
                  <a:srgbClr val="000000"/>
                </a:solidFill>
              </a:rPr>
              <a:t> (1 Layer GCN+LSTM, 2 Layers GCN+LSTM, 1 Layer GAT+LSTM, 2 Layers GAT+LSTM), All variants used 3 Layers of LSTM.</a:t>
            </a:r>
            <a:endParaRPr sz="2100"/>
          </a:p>
        </p:txBody>
      </p:sp>
      <p:sp>
        <p:nvSpPr>
          <p:cNvPr id="251" name="Google Shape;251;p37"/>
          <p:cNvSpPr txBox="1">
            <a:spLocks noGrp="1"/>
          </p:cNvSpPr>
          <p:nvPr>
            <p:ph type="title"/>
          </p:nvPr>
        </p:nvSpPr>
        <p:spPr>
          <a:xfrm>
            <a:off x="904875" y="142300"/>
            <a:ext cx="7785000" cy="382500"/>
          </a:xfrm>
          <a:prstGeom prst="rect">
            <a:avLst/>
          </a:prstGeom>
          <a:noFill/>
          <a:ln>
            <a:noFill/>
          </a:ln>
        </p:spPr>
        <p:txBody>
          <a:bodyPr spcFirstLastPara="1" wrap="square" lIns="180000" tIns="0" rIns="72000" bIns="46800" anchor="t" anchorCtr="0">
            <a:noAutofit/>
          </a:bodyPr>
          <a:lstStyle/>
          <a:p>
            <a:pPr marL="0" lvl="0" indent="0" algn="l" rtl="0">
              <a:lnSpc>
                <a:spcPct val="90000"/>
              </a:lnSpc>
              <a:spcBef>
                <a:spcPts val="0"/>
              </a:spcBef>
              <a:spcAft>
                <a:spcPts val="0"/>
              </a:spcAft>
              <a:buClr>
                <a:schemeClr val="dk1"/>
              </a:buClr>
              <a:buSzPts val="3200"/>
              <a:buFont typeface="Libre Franklin"/>
              <a:buNone/>
            </a:pPr>
            <a:r>
              <a:rPr lang="fr"/>
              <a:t>Graph Based Methods: GNN-LSTM</a:t>
            </a:r>
            <a:endParaRPr/>
          </a:p>
        </p:txBody>
      </p:sp>
      <p:sp>
        <p:nvSpPr>
          <p:cNvPr id="252" name="Google Shape;252;p37"/>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53" name="Google Shape;253;p37"/>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54" name="Google Shape;254;p37"/>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9</a:t>
            </a:fld>
            <a:endParaRPr/>
          </a:p>
        </p:txBody>
      </p:sp>
      <p:sp>
        <p:nvSpPr>
          <p:cNvPr id="255" name="Google Shape;255;p37"/>
          <p:cNvSpPr/>
          <p:nvPr/>
        </p:nvSpPr>
        <p:spPr>
          <a:xfrm>
            <a:off x="991400" y="820463"/>
            <a:ext cx="780000" cy="17493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EEG Time Series</a:t>
            </a:r>
            <a:endParaRPr/>
          </a:p>
        </p:txBody>
      </p:sp>
      <p:sp>
        <p:nvSpPr>
          <p:cNvPr id="256" name="Google Shape;256;p37"/>
          <p:cNvSpPr/>
          <p:nvPr/>
        </p:nvSpPr>
        <p:spPr>
          <a:xfrm>
            <a:off x="2375800" y="820463"/>
            <a:ext cx="712200" cy="3165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sp>
        <p:nvSpPr>
          <p:cNvPr id="257" name="Google Shape;257;p37"/>
          <p:cNvSpPr/>
          <p:nvPr/>
        </p:nvSpPr>
        <p:spPr>
          <a:xfrm>
            <a:off x="2375800" y="1290375"/>
            <a:ext cx="712200" cy="3165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sp>
        <p:nvSpPr>
          <p:cNvPr id="258" name="Google Shape;258;p37"/>
          <p:cNvSpPr/>
          <p:nvPr/>
        </p:nvSpPr>
        <p:spPr>
          <a:xfrm>
            <a:off x="2375800" y="1760275"/>
            <a:ext cx="712200" cy="3165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sp>
        <p:nvSpPr>
          <p:cNvPr id="259" name="Google Shape;259;p37"/>
          <p:cNvSpPr/>
          <p:nvPr/>
        </p:nvSpPr>
        <p:spPr>
          <a:xfrm>
            <a:off x="2375800" y="2253263"/>
            <a:ext cx="712200" cy="3165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cxnSp>
        <p:nvCxnSpPr>
          <p:cNvPr id="260" name="Google Shape;260;p37"/>
          <p:cNvCxnSpPr>
            <a:endCxn id="256" idx="1"/>
          </p:cNvCxnSpPr>
          <p:nvPr/>
        </p:nvCxnSpPr>
        <p:spPr>
          <a:xfrm rot="10800000" flipH="1">
            <a:off x="1763500" y="978713"/>
            <a:ext cx="612300" cy="600"/>
          </a:xfrm>
          <a:prstGeom prst="straightConnector1">
            <a:avLst/>
          </a:prstGeom>
          <a:noFill/>
          <a:ln w="9525" cap="flat" cmpd="sng">
            <a:solidFill>
              <a:schemeClr val="dk2"/>
            </a:solidFill>
            <a:prstDash val="solid"/>
            <a:round/>
            <a:headEnd type="none" w="med" len="med"/>
            <a:tailEnd type="triangle" w="med" len="med"/>
          </a:ln>
        </p:spPr>
      </p:cxnSp>
      <p:cxnSp>
        <p:nvCxnSpPr>
          <p:cNvPr id="261" name="Google Shape;261;p37"/>
          <p:cNvCxnSpPr/>
          <p:nvPr/>
        </p:nvCxnSpPr>
        <p:spPr>
          <a:xfrm rot="10800000" flipH="1">
            <a:off x="1763500" y="1448338"/>
            <a:ext cx="612300" cy="600"/>
          </a:xfrm>
          <a:prstGeom prst="straightConnector1">
            <a:avLst/>
          </a:prstGeom>
          <a:noFill/>
          <a:ln w="9525" cap="flat" cmpd="sng">
            <a:solidFill>
              <a:schemeClr val="dk2"/>
            </a:solidFill>
            <a:prstDash val="solid"/>
            <a:round/>
            <a:headEnd type="none" w="med" len="med"/>
            <a:tailEnd type="triangle" w="med" len="med"/>
          </a:ln>
        </p:spPr>
      </p:cxnSp>
      <p:cxnSp>
        <p:nvCxnSpPr>
          <p:cNvPr id="262" name="Google Shape;262;p37"/>
          <p:cNvCxnSpPr/>
          <p:nvPr/>
        </p:nvCxnSpPr>
        <p:spPr>
          <a:xfrm rot="10800000" flipH="1">
            <a:off x="1763500" y="1963750"/>
            <a:ext cx="612300" cy="600"/>
          </a:xfrm>
          <a:prstGeom prst="straightConnector1">
            <a:avLst/>
          </a:prstGeom>
          <a:noFill/>
          <a:ln w="9525" cap="flat" cmpd="sng">
            <a:solidFill>
              <a:schemeClr val="dk2"/>
            </a:solidFill>
            <a:prstDash val="solid"/>
            <a:round/>
            <a:headEnd type="none" w="med" len="med"/>
            <a:tailEnd type="triangle" w="med" len="med"/>
          </a:ln>
        </p:spPr>
      </p:cxnSp>
      <p:cxnSp>
        <p:nvCxnSpPr>
          <p:cNvPr id="263" name="Google Shape;263;p37"/>
          <p:cNvCxnSpPr/>
          <p:nvPr/>
        </p:nvCxnSpPr>
        <p:spPr>
          <a:xfrm rot="10800000" flipH="1">
            <a:off x="1763500" y="2414588"/>
            <a:ext cx="612300" cy="600"/>
          </a:xfrm>
          <a:prstGeom prst="straightConnector1">
            <a:avLst/>
          </a:prstGeom>
          <a:noFill/>
          <a:ln w="9525" cap="flat" cmpd="sng">
            <a:solidFill>
              <a:schemeClr val="dk2"/>
            </a:solidFill>
            <a:prstDash val="solid"/>
            <a:round/>
            <a:headEnd type="none" w="med" len="med"/>
            <a:tailEnd type="triangle" w="med" len="med"/>
          </a:ln>
        </p:spPr>
      </p:cxnSp>
      <p:sp>
        <p:nvSpPr>
          <p:cNvPr id="264" name="Google Shape;264;p37"/>
          <p:cNvSpPr/>
          <p:nvPr/>
        </p:nvSpPr>
        <p:spPr>
          <a:xfrm>
            <a:off x="3775675" y="820463"/>
            <a:ext cx="780000" cy="17493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LSTM</a:t>
            </a:r>
            <a:endParaRPr/>
          </a:p>
        </p:txBody>
      </p:sp>
      <p:cxnSp>
        <p:nvCxnSpPr>
          <p:cNvPr id="265" name="Google Shape;265;p37"/>
          <p:cNvCxnSpPr>
            <a:stCxn id="256" idx="3"/>
          </p:cNvCxnSpPr>
          <p:nvPr/>
        </p:nvCxnSpPr>
        <p:spPr>
          <a:xfrm rot="10800000" flipH="1">
            <a:off x="3088000" y="967913"/>
            <a:ext cx="710400" cy="10800"/>
          </a:xfrm>
          <a:prstGeom prst="straightConnector1">
            <a:avLst/>
          </a:prstGeom>
          <a:noFill/>
          <a:ln w="9525" cap="flat" cmpd="sng">
            <a:solidFill>
              <a:schemeClr val="dk2"/>
            </a:solidFill>
            <a:prstDash val="solid"/>
            <a:round/>
            <a:headEnd type="none" w="med" len="med"/>
            <a:tailEnd type="triangle" w="med" len="med"/>
          </a:ln>
        </p:spPr>
      </p:cxnSp>
      <p:cxnSp>
        <p:nvCxnSpPr>
          <p:cNvPr id="266" name="Google Shape;266;p37"/>
          <p:cNvCxnSpPr/>
          <p:nvPr/>
        </p:nvCxnSpPr>
        <p:spPr>
          <a:xfrm rot="10800000" flipH="1">
            <a:off x="3065275" y="1443225"/>
            <a:ext cx="710400" cy="10800"/>
          </a:xfrm>
          <a:prstGeom prst="straightConnector1">
            <a:avLst/>
          </a:prstGeom>
          <a:noFill/>
          <a:ln w="9525" cap="flat" cmpd="sng">
            <a:solidFill>
              <a:schemeClr val="dk2"/>
            </a:solidFill>
            <a:prstDash val="solid"/>
            <a:round/>
            <a:headEnd type="none" w="med" len="med"/>
            <a:tailEnd type="triangle" w="med" len="med"/>
          </a:ln>
        </p:spPr>
      </p:cxnSp>
      <p:cxnSp>
        <p:nvCxnSpPr>
          <p:cNvPr id="267" name="Google Shape;267;p37"/>
          <p:cNvCxnSpPr/>
          <p:nvPr/>
        </p:nvCxnSpPr>
        <p:spPr>
          <a:xfrm rot="10800000" flipH="1">
            <a:off x="3088000" y="1958388"/>
            <a:ext cx="710400" cy="10800"/>
          </a:xfrm>
          <a:prstGeom prst="straightConnector1">
            <a:avLst/>
          </a:prstGeom>
          <a:noFill/>
          <a:ln w="9525" cap="flat" cmpd="sng">
            <a:solidFill>
              <a:schemeClr val="dk2"/>
            </a:solidFill>
            <a:prstDash val="solid"/>
            <a:round/>
            <a:headEnd type="none" w="med" len="med"/>
            <a:tailEnd type="triangle" w="med" len="med"/>
          </a:ln>
        </p:spPr>
      </p:cxnSp>
      <p:cxnSp>
        <p:nvCxnSpPr>
          <p:cNvPr id="268" name="Google Shape;268;p37"/>
          <p:cNvCxnSpPr/>
          <p:nvPr/>
        </p:nvCxnSpPr>
        <p:spPr>
          <a:xfrm rot="10800000" flipH="1">
            <a:off x="3088000" y="2383025"/>
            <a:ext cx="710400" cy="10800"/>
          </a:xfrm>
          <a:prstGeom prst="straightConnector1">
            <a:avLst/>
          </a:prstGeom>
          <a:noFill/>
          <a:ln w="9525" cap="flat" cmpd="sng">
            <a:solidFill>
              <a:schemeClr val="dk2"/>
            </a:solidFill>
            <a:prstDash val="solid"/>
            <a:round/>
            <a:headEnd type="none" w="med" len="med"/>
            <a:tailEnd type="triangle" w="med" len="med"/>
          </a:ln>
        </p:spPr>
      </p:cxnSp>
      <p:sp>
        <p:nvSpPr>
          <p:cNvPr id="269" name="Google Shape;269;p37"/>
          <p:cNvSpPr/>
          <p:nvPr/>
        </p:nvSpPr>
        <p:spPr>
          <a:xfrm>
            <a:off x="5278575" y="2012388"/>
            <a:ext cx="1150800" cy="4989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Classifier</a:t>
            </a:r>
            <a:endParaRPr/>
          </a:p>
        </p:txBody>
      </p:sp>
      <p:cxnSp>
        <p:nvCxnSpPr>
          <p:cNvPr id="270" name="Google Shape;270;p37"/>
          <p:cNvCxnSpPr>
            <a:endCxn id="269" idx="1"/>
          </p:cNvCxnSpPr>
          <p:nvPr/>
        </p:nvCxnSpPr>
        <p:spPr>
          <a:xfrm rot="10800000" flipH="1">
            <a:off x="4570275" y="2261838"/>
            <a:ext cx="708300" cy="4200"/>
          </a:xfrm>
          <a:prstGeom prst="straightConnector1">
            <a:avLst/>
          </a:prstGeom>
          <a:noFill/>
          <a:ln w="9525" cap="flat" cmpd="sng">
            <a:solidFill>
              <a:schemeClr val="dk2"/>
            </a:solidFill>
            <a:prstDash val="solid"/>
            <a:round/>
            <a:headEnd type="none" w="med" len="med"/>
            <a:tailEnd type="triangle" w="med" len="med"/>
          </a:ln>
        </p:spPr>
      </p:cxnSp>
      <p:sp>
        <p:nvSpPr>
          <p:cNvPr id="271" name="Google Shape;271;p37"/>
          <p:cNvSpPr/>
          <p:nvPr/>
        </p:nvSpPr>
        <p:spPr>
          <a:xfrm>
            <a:off x="7039225" y="2012388"/>
            <a:ext cx="1299900" cy="4989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Seizure/</a:t>
            </a:r>
            <a:endParaRPr/>
          </a:p>
          <a:p>
            <a:pPr marL="0" lvl="0" indent="0" algn="ctr" rtl="0">
              <a:spcBef>
                <a:spcPts val="0"/>
              </a:spcBef>
              <a:spcAft>
                <a:spcPts val="0"/>
              </a:spcAft>
              <a:buNone/>
            </a:pPr>
            <a:r>
              <a:rPr lang="fr"/>
              <a:t>No Seizure</a:t>
            </a:r>
            <a:endParaRPr/>
          </a:p>
        </p:txBody>
      </p:sp>
      <p:cxnSp>
        <p:nvCxnSpPr>
          <p:cNvPr id="272" name="Google Shape;272;p37"/>
          <p:cNvCxnSpPr>
            <a:stCxn id="269" idx="3"/>
            <a:endCxn id="271" idx="1"/>
          </p:cNvCxnSpPr>
          <p:nvPr/>
        </p:nvCxnSpPr>
        <p:spPr>
          <a:xfrm>
            <a:off x="6429375" y="2261838"/>
            <a:ext cx="609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8"/>
          <p:cNvSpPr txBox="1">
            <a:spLocks noGrp="1"/>
          </p:cNvSpPr>
          <p:nvPr>
            <p:ph type="body" idx="1"/>
          </p:nvPr>
        </p:nvSpPr>
        <p:spPr>
          <a:xfrm>
            <a:off x="850300" y="3051375"/>
            <a:ext cx="7785000" cy="1896900"/>
          </a:xfrm>
          <a:prstGeom prst="rect">
            <a:avLst/>
          </a:prstGeom>
          <a:noFill/>
          <a:ln>
            <a:noFill/>
          </a:ln>
        </p:spPr>
        <p:txBody>
          <a:bodyPr spcFirstLastPara="1" wrap="square" lIns="180000" tIns="45700" rIns="91425" bIns="45700" anchor="t" anchorCtr="0">
            <a:normAutofit/>
          </a:bodyPr>
          <a:lstStyle/>
          <a:p>
            <a:pPr marL="457200" lvl="0" indent="-350520" algn="l" rtl="0">
              <a:spcBef>
                <a:spcPts val="0"/>
              </a:spcBef>
              <a:spcAft>
                <a:spcPts val="0"/>
              </a:spcAft>
              <a:buSzPts val="1920"/>
              <a:buChar char="-"/>
            </a:pPr>
            <a:r>
              <a:rPr lang="fr" sz="1400" b="1">
                <a:solidFill>
                  <a:srgbClr val="000000"/>
                </a:solidFill>
              </a:rPr>
              <a:t>Uses Diffusion process to model electrodes relationships</a:t>
            </a:r>
            <a:r>
              <a:rPr lang="fr" sz="1400">
                <a:solidFill>
                  <a:srgbClr val="000000"/>
                </a:solidFill>
              </a:rPr>
              <a:t>— Temporal dynamics are captured by GRUs, with matrix multiplications replaced by diffusion convolutions. Diffusion process modeled by a bidirectional random walk on the graph.</a:t>
            </a:r>
            <a:endParaRPr sz="1400">
              <a:solidFill>
                <a:srgbClr val="000000"/>
              </a:solidFill>
            </a:endParaRPr>
          </a:p>
          <a:p>
            <a:pPr marL="457200" lvl="0" indent="0" algn="l" rtl="0">
              <a:spcBef>
                <a:spcPts val="0"/>
              </a:spcBef>
              <a:spcAft>
                <a:spcPts val="0"/>
              </a:spcAft>
              <a:buNone/>
            </a:pPr>
            <a:endParaRPr sz="1400">
              <a:solidFill>
                <a:srgbClr val="000000"/>
              </a:solidFill>
            </a:endParaRPr>
          </a:p>
          <a:p>
            <a:pPr marL="457200" lvl="0" indent="-350520" algn="l" rtl="0">
              <a:spcBef>
                <a:spcPts val="0"/>
              </a:spcBef>
              <a:spcAft>
                <a:spcPts val="0"/>
              </a:spcAft>
              <a:buSzPts val="1920"/>
              <a:buChar char="-"/>
            </a:pPr>
            <a:r>
              <a:rPr lang="fr" sz="1400" b="1">
                <a:solidFill>
                  <a:srgbClr val="000000"/>
                </a:solidFill>
              </a:rPr>
              <a:t>GRU Last node output is fed into a classifier</a:t>
            </a:r>
            <a:r>
              <a:rPr lang="fr" sz="1400">
                <a:solidFill>
                  <a:srgbClr val="000000"/>
                </a:solidFill>
              </a:rPr>
              <a:t>; implemented in </a:t>
            </a:r>
            <a:r>
              <a:rPr lang="fr" sz="1400" b="1">
                <a:solidFill>
                  <a:srgbClr val="000000"/>
                </a:solidFill>
              </a:rPr>
              <a:t>two variants</a:t>
            </a:r>
            <a:r>
              <a:rPr lang="fr" sz="1400">
                <a:solidFill>
                  <a:srgbClr val="000000"/>
                </a:solidFill>
              </a:rPr>
              <a:t> (distance based graph to capture EEG sensor geometry and correlation based graph to capture dynamic connectivity in the brain).</a:t>
            </a:r>
            <a:endParaRPr sz="2100"/>
          </a:p>
        </p:txBody>
      </p:sp>
      <p:sp>
        <p:nvSpPr>
          <p:cNvPr id="278" name="Google Shape;278;p38"/>
          <p:cNvSpPr txBox="1">
            <a:spLocks noGrp="1"/>
          </p:cNvSpPr>
          <p:nvPr>
            <p:ph type="title"/>
          </p:nvPr>
        </p:nvSpPr>
        <p:spPr>
          <a:xfrm>
            <a:off x="904875" y="131025"/>
            <a:ext cx="77850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Graph Based Methods: Diffusion GNN</a:t>
            </a:r>
            <a:endParaRPr/>
          </a:p>
        </p:txBody>
      </p:sp>
      <p:sp>
        <p:nvSpPr>
          <p:cNvPr id="279" name="Google Shape;279;p38"/>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80" name="Google Shape;280;p38"/>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81" name="Google Shape;281;p38"/>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10</a:t>
            </a:fld>
            <a:endParaRPr/>
          </a:p>
        </p:txBody>
      </p:sp>
      <p:pic>
        <p:nvPicPr>
          <p:cNvPr id="282" name="Google Shape;282;p38" title="Screenshot 2025-06-15 at 8.05.27 PM.png"/>
          <p:cNvPicPr preferRelativeResize="0"/>
          <p:nvPr/>
        </p:nvPicPr>
        <p:blipFill>
          <a:blip r:embed="rId3">
            <a:alphaModFix/>
          </a:blip>
          <a:stretch>
            <a:fillRect/>
          </a:stretch>
        </p:blipFill>
        <p:spPr>
          <a:xfrm>
            <a:off x="746100" y="637200"/>
            <a:ext cx="7889199" cy="2301950"/>
          </a:xfrm>
          <a:prstGeom prst="rect">
            <a:avLst/>
          </a:prstGeom>
          <a:noFill/>
          <a:ln>
            <a:noFill/>
          </a:ln>
        </p:spPr>
      </p:pic>
      <p:sp>
        <p:nvSpPr>
          <p:cNvPr id="283" name="Google Shape;283;p38"/>
          <p:cNvSpPr txBox="1"/>
          <p:nvPr/>
        </p:nvSpPr>
        <p:spPr>
          <a:xfrm>
            <a:off x="1717000" y="2623838"/>
            <a:ext cx="6102000" cy="3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900">
                <a:solidFill>
                  <a:schemeClr val="dk1"/>
                </a:solidFill>
              </a:rPr>
              <a:t>Image credits: </a:t>
            </a:r>
            <a:r>
              <a:rPr lang="fr" sz="900" u="sng">
                <a:solidFill>
                  <a:schemeClr val="hlink"/>
                </a:solidFill>
                <a:hlinkClick r:id="rId4"/>
              </a:rPr>
              <a:t>Self-Supervised Graph Neural Networks for Improved Electroencephalographic Seizure Analysis</a:t>
            </a:r>
            <a:r>
              <a:rPr lang="fr" sz="900">
                <a:solidFill>
                  <a:schemeClr val="dk1"/>
                </a:solidFill>
              </a:rPr>
              <a:t> </a:t>
            </a:r>
            <a:endParaRPr sz="1500">
              <a:solidFill>
                <a:schemeClr val="dk1"/>
              </a:solidFill>
            </a:endParaRPr>
          </a:p>
          <a:p>
            <a:pPr marL="0" lvl="0" indent="0" algn="l" rtl="0">
              <a:spcBef>
                <a:spcPts val="0"/>
              </a:spcBef>
              <a:spcAft>
                <a:spcPts val="0"/>
              </a:spcAft>
              <a:buNone/>
            </a:pPr>
            <a:endParaRPr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9"/>
          <p:cNvSpPr txBox="1">
            <a:spLocks noGrp="1"/>
          </p:cNvSpPr>
          <p:nvPr>
            <p:ph type="body" idx="1"/>
          </p:nvPr>
        </p:nvSpPr>
        <p:spPr>
          <a:xfrm>
            <a:off x="772025" y="3206875"/>
            <a:ext cx="7785000" cy="1612800"/>
          </a:xfrm>
          <a:prstGeom prst="rect">
            <a:avLst/>
          </a:prstGeom>
          <a:noFill/>
          <a:ln>
            <a:noFill/>
          </a:ln>
        </p:spPr>
        <p:txBody>
          <a:bodyPr spcFirstLastPara="1" wrap="square" lIns="180000" tIns="45700" rIns="91425" bIns="45700" anchor="t" anchorCtr="0">
            <a:noAutofit/>
          </a:bodyPr>
          <a:lstStyle/>
          <a:p>
            <a:pPr marL="457200" lvl="0" indent="-317500" algn="l" rtl="0">
              <a:lnSpc>
                <a:spcPct val="115000"/>
              </a:lnSpc>
              <a:spcBef>
                <a:spcPts val="1200"/>
              </a:spcBef>
              <a:spcAft>
                <a:spcPts val="0"/>
              </a:spcAft>
              <a:buSzPts val="1400"/>
              <a:buChar char="-"/>
            </a:pPr>
            <a:r>
              <a:rPr lang="fr" sz="1400">
                <a:solidFill>
                  <a:srgbClr val="000000"/>
                </a:solidFill>
              </a:rPr>
              <a:t>The STGCN models </a:t>
            </a:r>
            <a:r>
              <a:rPr lang="fr" sz="1400" b="1">
                <a:solidFill>
                  <a:srgbClr val="000000"/>
                </a:solidFill>
              </a:rPr>
              <a:t>spatial</a:t>
            </a:r>
            <a:r>
              <a:rPr lang="fr" sz="1400">
                <a:solidFill>
                  <a:srgbClr val="000000"/>
                </a:solidFill>
              </a:rPr>
              <a:t> relations between electrodes using graph convolutions (via first-order spectral approximation of the normalized Laplacian) and captures </a:t>
            </a:r>
            <a:r>
              <a:rPr lang="fr" sz="1400" b="1">
                <a:solidFill>
                  <a:srgbClr val="000000"/>
                </a:solidFill>
              </a:rPr>
              <a:t>temporal</a:t>
            </a:r>
            <a:r>
              <a:rPr lang="fr" sz="1400">
                <a:solidFill>
                  <a:srgbClr val="000000"/>
                </a:solidFill>
              </a:rPr>
              <a:t> dynamics with gated 1D convolutions.</a:t>
            </a:r>
            <a:endParaRPr sz="1400">
              <a:solidFill>
                <a:srgbClr val="000000"/>
              </a:solidFill>
            </a:endParaRPr>
          </a:p>
          <a:p>
            <a:pPr marL="457200" lvl="0" indent="-317500" algn="l" rtl="0">
              <a:lnSpc>
                <a:spcPct val="115000"/>
              </a:lnSpc>
              <a:spcBef>
                <a:spcPts val="0"/>
              </a:spcBef>
              <a:spcAft>
                <a:spcPts val="0"/>
              </a:spcAft>
              <a:buSzPts val="1400"/>
              <a:buChar char="-"/>
            </a:pPr>
            <a:r>
              <a:rPr lang="fr" sz="1400">
                <a:solidFill>
                  <a:srgbClr val="000000"/>
                </a:solidFill>
              </a:rPr>
              <a:t>For seizure detection, two variants were tested: one using </a:t>
            </a:r>
            <a:r>
              <a:rPr lang="fr" sz="1400" b="1">
                <a:solidFill>
                  <a:srgbClr val="000000"/>
                </a:solidFill>
              </a:rPr>
              <a:t>Adaptive Average Pooling 2D</a:t>
            </a:r>
            <a:r>
              <a:rPr lang="fr" sz="1400">
                <a:solidFill>
                  <a:srgbClr val="000000"/>
                </a:solidFill>
              </a:rPr>
              <a:t>, the other with “</a:t>
            </a:r>
            <a:r>
              <a:rPr lang="fr" sz="1400" b="1">
                <a:solidFill>
                  <a:srgbClr val="000000"/>
                </a:solidFill>
              </a:rPr>
              <a:t>Attention” based pooling </a:t>
            </a:r>
            <a:r>
              <a:rPr lang="fr" sz="1400">
                <a:solidFill>
                  <a:srgbClr val="000000"/>
                </a:solidFill>
              </a:rPr>
              <a:t>(Adaptive average pooling was better)—both followed by two ReLU-activated dense layers and a final binary output layer.</a:t>
            </a:r>
            <a:endParaRPr sz="1400"/>
          </a:p>
          <a:p>
            <a:pPr marL="457200" lvl="0" indent="0" algn="l" rtl="0">
              <a:lnSpc>
                <a:spcPct val="70000"/>
              </a:lnSpc>
              <a:spcBef>
                <a:spcPts val="1200"/>
              </a:spcBef>
              <a:spcAft>
                <a:spcPts val="0"/>
              </a:spcAft>
              <a:buNone/>
            </a:pPr>
            <a:endParaRPr sz="1400"/>
          </a:p>
          <a:p>
            <a:pPr marL="0" lvl="0" indent="0" algn="l" rtl="0">
              <a:spcBef>
                <a:spcPts val="0"/>
              </a:spcBef>
              <a:spcAft>
                <a:spcPts val="0"/>
              </a:spcAft>
              <a:buNone/>
            </a:pPr>
            <a:endParaRPr sz="1400" b="1">
              <a:solidFill>
                <a:srgbClr val="000000"/>
              </a:solidFill>
            </a:endParaRPr>
          </a:p>
        </p:txBody>
      </p:sp>
      <p:sp>
        <p:nvSpPr>
          <p:cNvPr id="289" name="Google Shape;289;p39"/>
          <p:cNvSpPr txBox="1">
            <a:spLocks noGrp="1"/>
          </p:cNvSpPr>
          <p:nvPr>
            <p:ph type="title"/>
          </p:nvPr>
        </p:nvSpPr>
        <p:spPr>
          <a:xfrm>
            <a:off x="904875" y="131025"/>
            <a:ext cx="7785000" cy="1072800"/>
          </a:xfrm>
          <a:prstGeom prst="rect">
            <a:avLst/>
          </a:prstGeom>
          <a:noFill/>
          <a:ln>
            <a:noFill/>
          </a:ln>
        </p:spPr>
        <p:txBody>
          <a:bodyPr spcFirstLastPara="1" wrap="square" lIns="180000" tIns="0" rIns="72000" bIns="46800" anchor="t" anchorCtr="0">
            <a:normAutofit/>
          </a:bodyPr>
          <a:lstStyle/>
          <a:p>
            <a:pPr marL="0" lvl="0" indent="0" algn="l" rtl="0">
              <a:spcBef>
                <a:spcPts val="0"/>
              </a:spcBef>
              <a:spcAft>
                <a:spcPts val="0"/>
              </a:spcAft>
              <a:buClr>
                <a:schemeClr val="dk1"/>
              </a:buClr>
              <a:buSzPts val="3200"/>
              <a:buFont typeface="Libre Franklin"/>
              <a:buNone/>
            </a:pPr>
            <a:r>
              <a:rPr lang="fr"/>
              <a:t>Graph Based Methods: STGCN</a:t>
            </a:r>
            <a:endParaRPr/>
          </a:p>
          <a:p>
            <a:pPr marL="0" lvl="0" indent="0" algn="l" rtl="0">
              <a:lnSpc>
                <a:spcPct val="90000"/>
              </a:lnSpc>
              <a:spcBef>
                <a:spcPts val="0"/>
              </a:spcBef>
              <a:spcAft>
                <a:spcPts val="0"/>
              </a:spcAft>
              <a:buClr>
                <a:schemeClr val="dk1"/>
              </a:buClr>
              <a:buSzPts val="3200"/>
              <a:buFont typeface="Libre Franklin"/>
              <a:buNone/>
            </a:pPr>
            <a:endParaRPr/>
          </a:p>
        </p:txBody>
      </p:sp>
      <p:sp>
        <p:nvSpPr>
          <p:cNvPr id="290" name="Google Shape;290;p39"/>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291" name="Google Shape;291;p39"/>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292" name="Google Shape;292;p39"/>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11</a:t>
            </a:fld>
            <a:endParaRPr/>
          </a:p>
        </p:txBody>
      </p:sp>
      <p:pic>
        <p:nvPicPr>
          <p:cNvPr id="293" name="Google Shape;293;p39" title="stgcn_arch.png"/>
          <p:cNvPicPr preferRelativeResize="0"/>
          <p:nvPr/>
        </p:nvPicPr>
        <p:blipFill>
          <a:blip r:embed="rId3">
            <a:alphaModFix/>
          </a:blip>
          <a:stretch>
            <a:fillRect/>
          </a:stretch>
        </p:blipFill>
        <p:spPr>
          <a:xfrm>
            <a:off x="2474100" y="633617"/>
            <a:ext cx="4041318" cy="2266958"/>
          </a:xfrm>
          <a:prstGeom prst="rect">
            <a:avLst/>
          </a:prstGeom>
          <a:noFill/>
          <a:ln>
            <a:noFill/>
          </a:ln>
        </p:spPr>
      </p:pic>
      <p:sp>
        <p:nvSpPr>
          <p:cNvPr id="294" name="Google Shape;294;p39"/>
          <p:cNvSpPr txBox="1"/>
          <p:nvPr/>
        </p:nvSpPr>
        <p:spPr>
          <a:xfrm>
            <a:off x="2121350" y="2754325"/>
            <a:ext cx="6102000" cy="3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900">
                <a:solidFill>
                  <a:schemeClr val="dk1"/>
                </a:solidFill>
              </a:rPr>
              <a:t>Image credits:  </a:t>
            </a:r>
            <a:r>
              <a:rPr lang="fr" sz="900" u="sng">
                <a:solidFill>
                  <a:schemeClr val="hlink"/>
                </a:solidFill>
                <a:hlinkClick r:id="rId4"/>
              </a:rPr>
              <a:t>Spatio-Temporal Graph Convolutional Networks: A Deep Learning Framework for Traffic Forecasting</a:t>
            </a:r>
            <a:r>
              <a:rPr lang="fr" sz="900">
                <a:solidFill>
                  <a:schemeClr val="dk1"/>
                </a:solidFill>
              </a:rPr>
              <a:t>   </a:t>
            </a:r>
            <a:endParaRPr sz="1500">
              <a:solidFill>
                <a:schemeClr val="dk1"/>
              </a:solidFill>
            </a:endParaRPr>
          </a:p>
          <a:p>
            <a:pPr marL="0" lvl="0" indent="0" algn="l" rtl="0">
              <a:spcBef>
                <a:spcPts val="0"/>
              </a:spcBef>
              <a:spcAft>
                <a:spcPts val="0"/>
              </a:spcAft>
              <a:buNone/>
            </a:pPr>
            <a:endParaRPr sz="1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0"/>
          <p:cNvSpPr txBox="1">
            <a:spLocks noGrp="1"/>
          </p:cNvSpPr>
          <p:nvPr>
            <p:ph type="title"/>
          </p:nvPr>
        </p:nvSpPr>
        <p:spPr>
          <a:xfrm>
            <a:off x="791175" y="145100"/>
            <a:ext cx="7785000" cy="1072800"/>
          </a:xfrm>
          <a:prstGeom prst="rect">
            <a:avLst/>
          </a:prstGeom>
          <a:noFill/>
          <a:ln>
            <a:noFill/>
          </a:ln>
        </p:spPr>
        <p:txBody>
          <a:bodyPr spcFirstLastPara="1" wrap="square" lIns="180000" tIns="0" rIns="72000" bIns="46800" anchor="t" anchorCtr="0">
            <a:normAutofit/>
          </a:bodyPr>
          <a:lstStyle/>
          <a:p>
            <a:pPr marL="0" lvl="0" indent="0" algn="l" rtl="0">
              <a:spcBef>
                <a:spcPts val="0"/>
              </a:spcBef>
              <a:spcAft>
                <a:spcPts val="0"/>
              </a:spcAft>
              <a:buNone/>
            </a:pPr>
            <a:r>
              <a:rPr lang="fr"/>
              <a:t>Graph Based Methods: S4 - GNN</a:t>
            </a:r>
            <a:endParaRPr/>
          </a:p>
          <a:p>
            <a:pPr marL="0" lvl="0" indent="0" algn="l" rtl="0">
              <a:lnSpc>
                <a:spcPct val="90000"/>
              </a:lnSpc>
              <a:spcBef>
                <a:spcPts val="0"/>
              </a:spcBef>
              <a:spcAft>
                <a:spcPts val="0"/>
              </a:spcAft>
              <a:buClr>
                <a:schemeClr val="dk1"/>
              </a:buClr>
              <a:buSzPts val="3200"/>
              <a:buFont typeface="Libre Franklin"/>
              <a:buNone/>
            </a:pPr>
            <a:endParaRPr/>
          </a:p>
        </p:txBody>
      </p:sp>
      <p:sp>
        <p:nvSpPr>
          <p:cNvPr id="300" name="Google Shape;300;p40"/>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301" name="Google Shape;301;p40"/>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302" name="Google Shape;302;p40"/>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12</a:t>
            </a:fld>
            <a:endParaRPr/>
          </a:p>
        </p:txBody>
      </p:sp>
      <p:sp>
        <p:nvSpPr>
          <p:cNvPr id="303" name="Google Shape;303;p40"/>
          <p:cNvSpPr txBox="1">
            <a:spLocks noGrp="1"/>
          </p:cNvSpPr>
          <p:nvPr>
            <p:ph type="body" idx="1"/>
          </p:nvPr>
        </p:nvSpPr>
        <p:spPr>
          <a:xfrm>
            <a:off x="820425" y="2886488"/>
            <a:ext cx="7726500" cy="3386700"/>
          </a:xfrm>
          <a:prstGeom prst="rect">
            <a:avLst/>
          </a:prstGeom>
        </p:spPr>
        <p:txBody>
          <a:bodyPr spcFirstLastPara="1" wrap="square" lIns="180000" tIns="45700" rIns="91425" bIns="45700" anchor="t" anchorCtr="0">
            <a:normAutofit/>
          </a:bodyPr>
          <a:lstStyle/>
          <a:p>
            <a:pPr marL="457200" lvl="0" indent="-317500" algn="l" rtl="0">
              <a:lnSpc>
                <a:spcPct val="100000"/>
              </a:lnSpc>
              <a:spcBef>
                <a:spcPts val="750"/>
              </a:spcBef>
              <a:spcAft>
                <a:spcPts val="0"/>
              </a:spcAft>
              <a:buSzPts val="1400"/>
              <a:buChar char="-"/>
            </a:pPr>
            <a:r>
              <a:rPr lang="fr" sz="1400">
                <a:solidFill>
                  <a:srgbClr val="000000"/>
                </a:solidFill>
              </a:rPr>
              <a:t>Integrating S4’s long-range temporal modeling with a graph-based module to capture spatial dependencies </a:t>
            </a:r>
            <a:endParaRPr sz="1400">
              <a:solidFill>
                <a:srgbClr val="000000"/>
              </a:solidFill>
            </a:endParaRPr>
          </a:p>
          <a:p>
            <a:pPr marL="457200" lvl="0" indent="-317500" algn="l" rtl="0">
              <a:lnSpc>
                <a:spcPct val="100000"/>
              </a:lnSpc>
              <a:spcBef>
                <a:spcPts val="0"/>
              </a:spcBef>
              <a:spcAft>
                <a:spcPts val="0"/>
              </a:spcAft>
              <a:buSzPts val="1400"/>
              <a:buChar char="-"/>
            </a:pPr>
            <a:r>
              <a:rPr lang="fr" sz="1400">
                <a:solidFill>
                  <a:srgbClr val="000000"/>
                </a:solidFill>
              </a:rPr>
              <a:t>Two hybrid models:</a:t>
            </a:r>
            <a:endParaRPr sz="1400">
              <a:solidFill>
                <a:srgbClr val="000000"/>
              </a:solidFill>
            </a:endParaRPr>
          </a:p>
          <a:p>
            <a:pPr marL="914400" lvl="1" indent="-317500" algn="l" rtl="0">
              <a:lnSpc>
                <a:spcPct val="100000"/>
              </a:lnSpc>
              <a:spcBef>
                <a:spcPts val="0"/>
              </a:spcBef>
              <a:spcAft>
                <a:spcPts val="0"/>
              </a:spcAft>
              <a:buSzPts val="1400"/>
              <a:buChar char="○"/>
            </a:pPr>
            <a:r>
              <a:rPr lang="fr" sz="1400">
                <a:solidFill>
                  <a:srgbClr val="000000"/>
                </a:solidFill>
              </a:rPr>
              <a:t>S4 - GCN: one s4 layer per channel -&gt; 2 GCN layers with residual connections and graph normalization</a:t>
            </a:r>
            <a:endParaRPr sz="1400">
              <a:solidFill>
                <a:srgbClr val="000000"/>
              </a:solidFill>
            </a:endParaRPr>
          </a:p>
          <a:p>
            <a:pPr marL="914400" lvl="1" indent="-317500" algn="l" rtl="0">
              <a:lnSpc>
                <a:spcPct val="100000"/>
              </a:lnSpc>
              <a:spcBef>
                <a:spcPts val="0"/>
              </a:spcBef>
              <a:spcAft>
                <a:spcPts val="0"/>
              </a:spcAft>
              <a:buSzPts val="1400"/>
              <a:buChar char="○"/>
            </a:pPr>
            <a:r>
              <a:rPr lang="fr" sz="1400">
                <a:solidFill>
                  <a:srgbClr val="000000"/>
                </a:solidFill>
              </a:rPr>
              <a:t>S4 - GAT: one s4 layer per channel -&gt; 3 GAT layers with 4 attention heads and residual connections</a:t>
            </a:r>
            <a:endParaRPr sz="1400"/>
          </a:p>
          <a:p>
            <a:pPr marL="914400" lvl="0" indent="0" algn="l" rtl="0">
              <a:lnSpc>
                <a:spcPct val="100000"/>
              </a:lnSpc>
              <a:spcBef>
                <a:spcPts val="750"/>
              </a:spcBef>
              <a:spcAft>
                <a:spcPts val="0"/>
              </a:spcAft>
              <a:buNone/>
            </a:pPr>
            <a:endParaRPr/>
          </a:p>
        </p:txBody>
      </p:sp>
      <p:sp>
        <p:nvSpPr>
          <p:cNvPr id="304" name="Google Shape;304;p40"/>
          <p:cNvSpPr/>
          <p:nvPr/>
        </p:nvSpPr>
        <p:spPr>
          <a:xfrm>
            <a:off x="2276975" y="777863"/>
            <a:ext cx="780000" cy="17493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S4</a:t>
            </a:r>
            <a:endParaRPr/>
          </a:p>
        </p:txBody>
      </p:sp>
      <p:sp>
        <p:nvSpPr>
          <p:cNvPr id="305" name="Google Shape;305;p40"/>
          <p:cNvSpPr/>
          <p:nvPr/>
        </p:nvSpPr>
        <p:spPr>
          <a:xfrm>
            <a:off x="3746113" y="777863"/>
            <a:ext cx="780000" cy="17493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GNN</a:t>
            </a:r>
            <a:endParaRPr/>
          </a:p>
        </p:txBody>
      </p:sp>
      <p:cxnSp>
        <p:nvCxnSpPr>
          <p:cNvPr id="306" name="Google Shape;306;p40"/>
          <p:cNvCxnSpPr/>
          <p:nvPr/>
        </p:nvCxnSpPr>
        <p:spPr>
          <a:xfrm rot="10800000" flipH="1">
            <a:off x="3056975" y="1647125"/>
            <a:ext cx="710400" cy="10800"/>
          </a:xfrm>
          <a:prstGeom prst="straightConnector1">
            <a:avLst/>
          </a:prstGeom>
          <a:noFill/>
          <a:ln w="9525" cap="flat" cmpd="sng">
            <a:solidFill>
              <a:schemeClr val="dk2"/>
            </a:solidFill>
            <a:prstDash val="solid"/>
            <a:round/>
            <a:headEnd type="none" w="med" len="med"/>
            <a:tailEnd type="triangle" w="med" len="med"/>
          </a:ln>
        </p:spPr>
      </p:cxnSp>
      <p:sp>
        <p:nvSpPr>
          <p:cNvPr id="307" name="Google Shape;307;p40"/>
          <p:cNvSpPr/>
          <p:nvPr/>
        </p:nvSpPr>
        <p:spPr>
          <a:xfrm>
            <a:off x="5215275" y="1965388"/>
            <a:ext cx="1150800" cy="4989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Classifier</a:t>
            </a:r>
            <a:endParaRPr/>
          </a:p>
        </p:txBody>
      </p:sp>
      <p:sp>
        <p:nvSpPr>
          <p:cNvPr id="308" name="Google Shape;308;p40"/>
          <p:cNvSpPr/>
          <p:nvPr/>
        </p:nvSpPr>
        <p:spPr>
          <a:xfrm>
            <a:off x="6975950" y="1965388"/>
            <a:ext cx="1299900" cy="4989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a:t>Seizure/</a:t>
            </a:r>
            <a:endParaRPr/>
          </a:p>
          <a:p>
            <a:pPr marL="0" lvl="0" indent="0" algn="ctr" rtl="0">
              <a:spcBef>
                <a:spcPts val="0"/>
              </a:spcBef>
              <a:spcAft>
                <a:spcPts val="0"/>
              </a:spcAft>
              <a:buNone/>
            </a:pPr>
            <a:r>
              <a:rPr lang="fr"/>
              <a:t>No Seizure</a:t>
            </a:r>
            <a:endParaRPr/>
          </a:p>
        </p:txBody>
      </p:sp>
      <p:cxnSp>
        <p:nvCxnSpPr>
          <p:cNvPr id="309" name="Google Shape;309;p40"/>
          <p:cNvCxnSpPr/>
          <p:nvPr/>
        </p:nvCxnSpPr>
        <p:spPr>
          <a:xfrm rot="10800000" flipH="1">
            <a:off x="4526125" y="2212738"/>
            <a:ext cx="708300" cy="4200"/>
          </a:xfrm>
          <a:prstGeom prst="straightConnector1">
            <a:avLst/>
          </a:prstGeom>
          <a:noFill/>
          <a:ln w="9525" cap="flat" cmpd="sng">
            <a:solidFill>
              <a:schemeClr val="dk2"/>
            </a:solidFill>
            <a:prstDash val="solid"/>
            <a:round/>
            <a:headEnd type="none" w="med" len="med"/>
            <a:tailEnd type="triangle" w="med" len="med"/>
          </a:ln>
        </p:spPr>
      </p:cxnSp>
      <p:cxnSp>
        <p:nvCxnSpPr>
          <p:cNvPr id="310" name="Google Shape;310;p40"/>
          <p:cNvCxnSpPr/>
          <p:nvPr/>
        </p:nvCxnSpPr>
        <p:spPr>
          <a:xfrm>
            <a:off x="6366075" y="2214838"/>
            <a:ext cx="609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1"/>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Results</a:t>
            </a:r>
            <a:endParaRPr/>
          </a:p>
        </p:txBody>
      </p:sp>
      <p:sp>
        <p:nvSpPr>
          <p:cNvPr id="316" name="Google Shape;316;p41"/>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317" name="Google Shape;317;p41"/>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13</a:t>
            </a:fld>
            <a:endParaRPr/>
          </a:p>
        </p:txBody>
      </p:sp>
      <p:graphicFrame>
        <p:nvGraphicFramePr>
          <p:cNvPr id="318" name="Google Shape;318;p41"/>
          <p:cNvGraphicFramePr/>
          <p:nvPr/>
        </p:nvGraphicFramePr>
        <p:xfrm>
          <a:off x="710225" y="541150"/>
          <a:ext cx="6401175" cy="5567496"/>
        </p:xfrm>
        <a:graphic>
          <a:graphicData uri="http://schemas.openxmlformats.org/drawingml/2006/table">
            <a:tbl>
              <a:tblPr>
                <a:noFill/>
                <a:tableStyleId>{2FFC955C-4E89-4CB0-8DCC-417F95FC8532}</a:tableStyleId>
              </a:tblPr>
              <a:tblGrid>
                <a:gridCol w="2133725">
                  <a:extLst>
                    <a:ext uri="{9D8B030D-6E8A-4147-A177-3AD203B41FA5}">
                      <a16:colId xmlns:a16="http://schemas.microsoft.com/office/drawing/2014/main" val="20000"/>
                    </a:ext>
                  </a:extLst>
                </a:gridCol>
                <a:gridCol w="2133725">
                  <a:extLst>
                    <a:ext uri="{9D8B030D-6E8A-4147-A177-3AD203B41FA5}">
                      <a16:colId xmlns:a16="http://schemas.microsoft.com/office/drawing/2014/main" val="20001"/>
                    </a:ext>
                  </a:extLst>
                </a:gridCol>
                <a:gridCol w="2133725">
                  <a:extLst>
                    <a:ext uri="{9D8B030D-6E8A-4147-A177-3AD203B41FA5}">
                      <a16:colId xmlns:a16="http://schemas.microsoft.com/office/drawing/2014/main" val="20002"/>
                    </a:ext>
                  </a:extLst>
                </a:gridCol>
              </a:tblGrid>
              <a:tr h="283575">
                <a:tc>
                  <a:txBody>
                    <a:bodyPr/>
                    <a:lstStyle/>
                    <a:p>
                      <a:pPr marL="0" lvl="0" indent="0" algn="l" rtl="0">
                        <a:lnSpc>
                          <a:spcPct val="172000"/>
                        </a:lnSpc>
                        <a:spcBef>
                          <a:spcPts val="0"/>
                        </a:spcBef>
                        <a:spcAft>
                          <a:spcPts val="0"/>
                        </a:spcAft>
                        <a:buNone/>
                      </a:pPr>
                      <a:r>
                        <a:rPr lang="fr" sz="1000" b="1">
                          <a:solidFill>
                            <a:srgbClr val="292A2D"/>
                          </a:solidFill>
                          <a:latin typeface="Roboto"/>
                          <a:ea typeface="Roboto"/>
                          <a:cs typeface="Roboto"/>
                          <a:sym typeface="Roboto"/>
                        </a:rPr>
                        <a:t>Model</a:t>
                      </a:r>
                      <a:endParaRPr sz="1000" b="1">
                        <a:solidFill>
                          <a:srgbClr val="292A2D"/>
                        </a:solidFill>
                        <a:latin typeface="Roboto"/>
                        <a:ea typeface="Roboto"/>
                        <a:cs typeface="Roboto"/>
                        <a:sym typeface="Roboto"/>
                      </a:endParaRPr>
                    </a:p>
                  </a:txBody>
                  <a:tcPr marL="91425" marR="95250" marT="95250" marB="95250">
                    <a:lnB w="9525" cap="flat" cmpd="sng">
                      <a:solidFill>
                        <a:srgbClr val="8B8B8B"/>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Test F1 (Time data)</a:t>
                      </a:r>
                      <a:endParaRPr sz="900" b="1">
                        <a:solidFill>
                          <a:srgbClr val="292A2D"/>
                        </a:solidFill>
                        <a:latin typeface="Roboto"/>
                        <a:ea typeface="Roboto"/>
                        <a:cs typeface="Roboto"/>
                        <a:sym typeface="Roboto"/>
                      </a:endParaRPr>
                    </a:p>
                  </a:txBody>
                  <a:tcPr marL="95250" marR="95250" marT="95250" marB="95250">
                    <a:lnB w="9525" cap="flat" cmpd="sng">
                      <a:solidFill>
                        <a:srgbClr val="8B8B8B"/>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Test F1 (Freq. data)</a:t>
                      </a:r>
                      <a:endParaRPr sz="900" b="1">
                        <a:solidFill>
                          <a:srgbClr val="292A2D"/>
                        </a:solidFill>
                        <a:latin typeface="Roboto"/>
                        <a:ea typeface="Roboto"/>
                        <a:cs typeface="Roboto"/>
                        <a:sym typeface="Roboto"/>
                      </a:endParaRPr>
                    </a:p>
                  </a:txBody>
                  <a:tcPr marL="95250" marR="95250" marT="95250" marB="95250">
                    <a:lnB w="9525" cap="flat" cmpd="sng">
                      <a:solidFill>
                        <a:srgbClr val="8B8B8B"/>
                      </a:solidFill>
                      <a:prstDash val="solid"/>
                      <a:round/>
                      <a:headEnd type="none" w="sm" len="sm"/>
                      <a:tailEnd type="none" w="sm" len="sm"/>
                    </a:lnB>
                  </a:tcPr>
                </a:tc>
                <a:extLst>
                  <a:ext uri="{0D108BD9-81ED-4DB2-BD59-A6C34878D82A}">
                    <a16:rowId xmlns:a16="http://schemas.microsoft.com/office/drawing/2014/main" val="10000"/>
                  </a:ext>
                </a:extLst>
              </a:tr>
              <a:tr h="283575">
                <a:tc>
                  <a:txBody>
                    <a:bodyPr/>
                    <a:lstStyle/>
                    <a:p>
                      <a:pPr marL="0" lvl="0" indent="0" algn="l" rtl="0">
                        <a:lnSpc>
                          <a:spcPct val="172000"/>
                        </a:lnSpc>
                        <a:spcBef>
                          <a:spcPts val="0"/>
                        </a:spcBef>
                        <a:spcAft>
                          <a:spcPts val="0"/>
                        </a:spcAft>
                        <a:buNone/>
                      </a:pPr>
                      <a:r>
                        <a:rPr lang="fr" sz="900"/>
                        <a:t>S4-GCN</a:t>
                      </a:r>
                      <a:endParaRPr sz="900"/>
                    </a:p>
                  </a:txBody>
                  <a:tcPr marL="91425" marR="95250" marT="95250" marB="95250">
                    <a:lnT w="9525" cap="flat" cmpd="sng">
                      <a:solidFill>
                        <a:srgbClr val="8B8B8B"/>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0.83765</a:t>
                      </a:r>
                      <a:endParaRPr sz="900" b="1">
                        <a:solidFill>
                          <a:srgbClr val="292A2D"/>
                        </a:solidFill>
                        <a:latin typeface="Roboto"/>
                        <a:ea typeface="Roboto"/>
                        <a:cs typeface="Roboto"/>
                        <a:sym typeface="Roboto"/>
                      </a:endParaRPr>
                    </a:p>
                  </a:txBody>
                  <a:tcPr marL="95250" marR="95250" marT="95250" marB="95250">
                    <a:lnT w="9525" cap="flat" cmpd="sng">
                      <a:solidFill>
                        <a:srgbClr val="8B8B8B"/>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0.83631</a:t>
                      </a:r>
                      <a:endParaRPr sz="900">
                        <a:solidFill>
                          <a:srgbClr val="292A2D"/>
                        </a:solidFill>
                        <a:latin typeface="Roboto"/>
                        <a:ea typeface="Roboto"/>
                        <a:cs typeface="Roboto"/>
                        <a:sym typeface="Roboto"/>
                      </a:endParaRPr>
                    </a:p>
                  </a:txBody>
                  <a:tcPr marL="95250" marR="95250" marT="95250" marB="95250">
                    <a:lnT w="9525" cap="flat" cmpd="sng">
                      <a:solidFill>
                        <a:srgbClr val="8B8B8B"/>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1"/>
                  </a:ext>
                </a:extLst>
              </a:tr>
              <a:tr h="271525">
                <a:tc>
                  <a:txBody>
                    <a:bodyPr/>
                    <a:lstStyle/>
                    <a:p>
                      <a:pPr marL="0" lvl="0" indent="0" algn="l" rtl="0">
                        <a:lnSpc>
                          <a:spcPct val="172000"/>
                        </a:lnSpc>
                        <a:spcBef>
                          <a:spcPts val="0"/>
                        </a:spcBef>
                        <a:spcAft>
                          <a:spcPts val="0"/>
                        </a:spcAft>
                        <a:buNone/>
                      </a:pPr>
                      <a:r>
                        <a:rPr lang="fr" sz="900"/>
                        <a:t>LSTM-GAT</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0.73549</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0.82047</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2"/>
                  </a:ext>
                </a:extLst>
              </a:tr>
              <a:tr h="283575">
                <a:tc>
                  <a:txBody>
                    <a:bodyPr/>
                    <a:lstStyle/>
                    <a:p>
                      <a:pPr marL="0" lvl="0" indent="0" algn="l" rtl="0">
                        <a:lnSpc>
                          <a:spcPct val="172000"/>
                        </a:lnSpc>
                        <a:spcBef>
                          <a:spcPts val="0"/>
                        </a:spcBef>
                        <a:spcAft>
                          <a:spcPts val="0"/>
                        </a:spcAft>
                        <a:buNone/>
                      </a:pPr>
                      <a:r>
                        <a:rPr lang="fr" sz="900"/>
                        <a:t>S4</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0.81459</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3"/>
                  </a:ext>
                </a:extLst>
              </a:tr>
              <a:tr h="283575">
                <a:tc>
                  <a:txBody>
                    <a:bodyPr/>
                    <a:lstStyle/>
                    <a:p>
                      <a:pPr marL="0" lvl="0" indent="0" algn="l" rtl="0">
                        <a:lnSpc>
                          <a:spcPct val="172000"/>
                        </a:lnSpc>
                        <a:spcBef>
                          <a:spcPts val="0"/>
                        </a:spcBef>
                        <a:spcAft>
                          <a:spcPts val="0"/>
                        </a:spcAft>
                        <a:buNone/>
                      </a:pPr>
                      <a:r>
                        <a:rPr lang="fr" sz="900"/>
                        <a:t>Resnet-LSTM</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0.81352</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0.49908</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4"/>
                  </a:ext>
                </a:extLst>
              </a:tr>
              <a:tr h="283575">
                <a:tc>
                  <a:txBody>
                    <a:bodyPr/>
                    <a:lstStyle/>
                    <a:p>
                      <a:pPr marL="0" lvl="0" indent="0" algn="l" rtl="0">
                        <a:lnSpc>
                          <a:spcPct val="172000"/>
                        </a:lnSpc>
                        <a:spcBef>
                          <a:spcPts val="0"/>
                        </a:spcBef>
                        <a:spcAft>
                          <a:spcPts val="0"/>
                        </a:spcAft>
                        <a:buNone/>
                      </a:pPr>
                      <a:r>
                        <a:rPr lang="fr" sz="900"/>
                        <a:t>S4-GAT</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0.80212</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0.80066</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5"/>
                  </a:ext>
                </a:extLst>
              </a:tr>
              <a:tr h="283575">
                <a:tc>
                  <a:txBody>
                    <a:bodyPr/>
                    <a:lstStyle/>
                    <a:p>
                      <a:pPr marL="0" lvl="0" indent="0" algn="l" rtl="0">
                        <a:lnSpc>
                          <a:spcPct val="172000"/>
                        </a:lnSpc>
                        <a:spcBef>
                          <a:spcPts val="0"/>
                        </a:spcBef>
                        <a:spcAft>
                          <a:spcPts val="0"/>
                        </a:spcAft>
                        <a:buNone/>
                      </a:pPr>
                      <a:r>
                        <a:rPr lang="fr" sz="900"/>
                        <a:t>LSTM-GCN</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0.69459</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0.77297</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6"/>
                  </a:ext>
                </a:extLst>
              </a:tr>
              <a:tr h="283575">
                <a:tc>
                  <a:txBody>
                    <a:bodyPr/>
                    <a:lstStyle/>
                    <a:p>
                      <a:pPr marL="0" lvl="0" indent="0" algn="l" rtl="0">
                        <a:lnSpc>
                          <a:spcPct val="172000"/>
                        </a:lnSpc>
                        <a:spcBef>
                          <a:spcPts val="0"/>
                        </a:spcBef>
                        <a:spcAft>
                          <a:spcPts val="0"/>
                        </a:spcAft>
                        <a:buNone/>
                      </a:pPr>
                      <a:r>
                        <a:rPr lang="fr" sz="900"/>
                        <a:t>STGCN [Avg pooling]</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0.76001</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0.67699</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7"/>
                  </a:ext>
                </a:extLst>
              </a:tr>
              <a:tr h="283575">
                <a:tc>
                  <a:txBody>
                    <a:bodyPr/>
                    <a:lstStyle/>
                    <a:p>
                      <a:pPr marL="0" lvl="0" indent="0" algn="l" rtl="0">
                        <a:lnSpc>
                          <a:spcPct val="172000"/>
                        </a:lnSpc>
                        <a:spcBef>
                          <a:spcPts val="0"/>
                        </a:spcBef>
                        <a:spcAft>
                          <a:spcPts val="0"/>
                        </a:spcAft>
                        <a:buNone/>
                      </a:pPr>
                      <a:r>
                        <a:rPr lang="fr" sz="900"/>
                        <a:t>Corr-DCRNN</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0.75721</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8"/>
                  </a:ext>
                </a:extLst>
              </a:tr>
              <a:tr h="283575">
                <a:tc>
                  <a:txBody>
                    <a:bodyPr/>
                    <a:lstStyle/>
                    <a:p>
                      <a:pPr marL="0" lvl="0" indent="0" algn="l" rtl="0">
                        <a:lnSpc>
                          <a:spcPct val="172000"/>
                        </a:lnSpc>
                        <a:spcBef>
                          <a:spcPts val="0"/>
                        </a:spcBef>
                        <a:spcAft>
                          <a:spcPts val="0"/>
                        </a:spcAft>
                        <a:buNone/>
                      </a:pPr>
                      <a:r>
                        <a:rPr lang="fr" sz="900"/>
                        <a:t>Dist-DCRNN</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0.74920</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09"/>
                  </a:ext>
                </a:extLst>
              </a:tr>
              <a:tr h="283575">
                <a:tc>
                  <a:txBody>
                    <a:bodyPr/>
                    <a:lstStyle/>
                    <a:p>
                      <a:pPr marL="0" lvl="0" indent="0" algn="l" rtl="0">
                        <a:lnSpc>
                          <a:spcPct val="172000"/>
                        </a:lnSpc>
                        <a:spcBef>
                          <a:spcPts val="0"/>
                        </a:spcBef>
                        <a:spcAft>
                          <a:spcPts val="0"/>
                        </a:spcAft>
                        <a:buNone/>
                      </a:pPr>
                      <a:r>
                        <a:rPr lang="fr" sz="900"/>
                        <a:t>GCN-LSTM</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0.64124</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0.74132</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10"/>
                  </a:ext>
                </a:extLst>
              </a:tr>
              <a:tr h="283575">
                <a:tc>
                  <a:txBody>
                    <a:bodyPr/>
                    <a:lstStyle/>
                    <a:p>
                      <a:pPr marL="0" lvl="0" indent="0" algn="l" rtl="0">
                        <a:lnSpc>
                          <a:spcPct val="172000"/>
                        </a:lnSpc>
                        <a:spcBef>
                          <a:spcPts val="0"/>
                        </a:spcBef>
                        <a:spcAft>
                          <a:spcPts val="0"/>
                        </a:spcAft>
                        <a:buNone/>
                      </a:pPr>
                      <a:r>
                        <a:rPr lang="fr" sz="900"/>
                        <a:t>GAT-LSTM</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0.67059</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0.74101</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11"/>
                  </a:ext>
                </a:extLst>
              </a:tr>
              <a:tr h="283575">
                <a:tc>
                  <a:txBody>
                    <a:bodyPr/>
                    <a:lstStyle/>
                    <a:p>
                      <a:pPr marL="0" lvl="0" indent="0" algn="l" rtl="0">
                        <a:lnSpc>
                          <a:spcPct val="172000"/>
                        </a:lnSpc>
                        <a:spcBef>
                          <a:spcPts val="0"/>
                        </a:spcBef>
                        <a:spcAft>
                          <a:spcPts val="0"/>
                        </a:spcAft>
                        <a:buNone/>
                      </a:pPr>
                      <a:r>
                        <a:rPr lang="fr" sz="900"/>
                        <a:t>LSTM</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0.69459</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b="1">
                          <a:solidFill>
                            <a:srgbClr val="292A2D"/>
                          </a:solidFill>
                          <a:latin typeface="Roboto"/>
                          <a:ea typeface="Roboto"/>
                          <a:cs typeface="Roboto"/>
                          <a:sym typeface="Roboto"/>
                        </a:rPr>
                        <a:t>0.72943</a:t>
                      </a:r>
                      <a:endParaRPr sz="900" b="1">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12"/>
                  </a:ext>
                </a:extLst>
              </a:tr>
              <a:tr h="283575">
                <a:tc>
                  <a:txBody>
                    <a:bodyPr/>
                    <a:lstStyle/>
                    <a:p>
                      <a:pPr marL="0" lvl="0" indent="0" algn="l" rtl="0">
                        <a:lnSpc>
                          <a:spcPct val="172000"/>
                        </a:lnSpc>
                        <a:spcBef>
                          <a:spcPts val="0"/>
                        </a:spcBef>
                        <a:spcAft>
                          <a:spcPts val="0"/>
                        </a:spcAft>
                        <a:buNone/>
                      </a:pPr>
                      <a:r>
                        <a:rPr lang="fr" sz="900"/>
                        <a:t>GAT</a:t>
                      </a:r>
                      <a:endParaRPr sz="900"/>
                    </a:p>
                  </a:txBody>
                  <a:tcPr marL="91425"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tc>
                  <a:txBody>
                    <a:bodyPr/>
                    <a:lstStyle/>
                    <a:p>
                      <a:pPr marL="0" lvl="0" indent="0" algn="l" rtl="0">
                        <a:lnSpc>
                          <a:spcPct val="172000"/>
                        </a:lnSpc>
                        <a:spcBef>
                          <a:spcPts val="0"/>
                        </a:spcBef>
                        <a:spcAft>
                          <a:spcPts val="0"/>
                        </a:spcAft>
                        <a:buNone/>
                      </a:pPr>
                      <a:r>
                        <a:rPr lang="fr" sz="900">
                          <a:solidFill>
                            <a:srgbClr val="292A2D"/>
                          </a:solidFill>
                          <a:latin typeface="Roboto"/>
                          <a:ea typeface="Roboto"/>
                          <a:cs typeface="Roboto"/>
                          <a:sym typeface="Roboto"/>
                        </a:rPr>
                        <a:t>0.56997</a:t>
                      </a:r>
                      <a:endParaRPr sz="900">
                        <a:solidFill>
                          <a:srgbClr val="292A2D"/>
                        </a:solidFill>
                        <a:latin typeface="Roboto"/>
                        <a:ea typeface="Roboto"/>
                        <a:cs typeface="Roboto"/>
                        <a:sym typeface="Roboto"/>
                      </a:endParaRPr>
                    </a:p>
                  </a:txBody>
                  <a:tcPr marL="95250" marR="95250" marT="95250" marB="95250">
                    <a:lnT w="9525" cap="flat" cmpd="sng">
                      <a:solidFill>
                        <a:srgbClr val="525252"/>
                      </a:solidFill>
                      <a:prstDash val="solid"/>
                      <a:round/>
                      <a:headEnd type="none" w="sm" len="sm"/>
                      <a:tailEnd type="none" w="sm" len="sm"/>
                    </a:lnT>
                    <a:lnB w="9525" cap="flat" cmpd="sng">
                      <a:solidFill>
                        <a:srgbClr val="525252"/>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319" name="Google Shape;319;p41"/>
          <p:cNvSpPr txBox="1"/>
          <p:nvPr/>
        </p:nvSpPr>
        <p:spPr>
          <a:xfrm>
            <a:off x="7188175" y="1148625"/>
            <a:ext cx="1892700" cy="119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fr" sz="1100" b="1"/>
              <a:t>Resnet-LSTM and S4</a:t>
            </a:r>
            <a:r>
              <a:rPr lang="fr" sz="1100"/>
              <a:t> best among</a:t>
            </a:r>
            <a:endParaRPr sz="1100"/>
          </a:p>
          <a:p>
            <a:pPr marL="0" lvl="0" indent="0" algn="l" rtl="0">
              <a:spcBef>
                <a:spcPts val="0"/>
              </a:spcBef>
              <a:spcAft>
                <a:spcPts val="0"/>
              </a:spcAft>
              <a:buNone/>
            </a:pPr>
            <a:r>
              <a:rPr lang="fr" sz="1100"/>
              <a:t>non Graph based</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fr" sz="1100" b="1"/>
              <a:t>S4-GCN</a:t>
            </a:r>
            <a:r>
              <a:rPr lang="fr" sz="1100"/>
              <a:t> best among Graph </a:t>
            </a:r>
            <a:endParaRPr sz="1100"/>
          </a:p>
          <a:p>
            <a:pPr marL="0" lvl="0" indent="0" algn="l" rtl="0">
              <a:spcBef>
                <a:spcPts val="0"/>
              </a:spcBef>
              <a:spcAft>
                <a:spcPts val="0"/>
              </a:spcAft>
              <a:buNone/>
            </a:pPr>
            <a:r>
              <a:rPr lang="fr" sz="1100"/>
              <a:t>based</a:t>
            </a:r>
            <a:endParaRPr sz="800">
              <a:solidFill>
                <a:schemeClr val="dk1"/>
              </a:solidFill>
            </a:endParaRPr>
          </a:p>
          <a:p>
            <a:pPr marL="0" lvl="0" indent="0" algn="l" rtl="0">
              <a:spcBef>
                <a:spcPts val="0"/>
              </a:spcBef>
              <a:spcAft>
                <a:spcPts val="0"/>
              </a:spcAft>
              <a:buNone/>
            </a:pPr>
            <a:endParaRPr sz="1100">
              <a:solidFill>
                <a:schemeClr val="dk1"/>
              </a:solidFill>
            </a:endParaRPr>
          </a:p>
        </p:txBody>
      </p:sp>
      <p:sp>
        <p:nvSpPr>
          <p:cNvPr id="320" name="Google Shape;320;p41"/>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2"/>
          <p:cNvSpPr txBox="1">
            <a:spLocks noGrp="1"/>
          </p:cNvSpPr>
          <p:nvPr>
            <p:ph type="body" idx="1"/>
          </p:nvPr>
        </p:nvSpPr>
        <p:spPr>
          <a:xfrm>
            <a:off x="869700" y="986738"/>
            <a:ext cx="7726500" cy="3386700"/>
          </a:xfrm>
          <a:prstGeom prst="rect">
            <a:avLst/>
          </a:prstGeom>
          <a:noFill/>
          <a:ln>
            <a:noFill/>
          </a:ln>
        </p:spPr>
        <p:txBody>
          <a:bodyPr spcFirstLastPara="1" wrap="square" lIns="180000" tIns="45700" rIns="91425" bIns="45700" anchor="t" anchorCtr="0">
            <a:normAutofit lnSpcReduction="10000"/>
          </a:bodyPr>
          <a:lstStyle/>
          <a:p>
            <a:pPr marL="457200" lvl="0" indent="-306070" algn="l" rtl="0">
              <a:lnSpc>
                <a:spcPct val="90000"/>
              </a:lnSpc>
              <a:spcBef>
                <a:spcPts val="0"/>
              </a:spcBef>
              <a:spcAft>
                <a:spcPts val="0"/>
              </a:spcAft>
              <a:buSzPts val="1220"/>
              <a:buChar char="-"/>
            </a:pPr>
            <a:r>
              <a:rPr lang="fr" sz="1400">
                <a:solidFill>
                  <a:srgbClr val="000000"/>
                </a:solidFill>
              </a:rPr>
              <a:t>GNN seems to help in the task of seizure detection by our results, so it does seems that EEG seizure detection does benefit from spatial information.</a:t>
            </a:r>
            <a:br>
              <a:rPr lang="fr" sz="1400">
                <a:solidFill>
                  <a:srgbClr val="000000"/>
                </a:solidFill>
              </a:rPr>
            </a:br>
            <a:endParaRPr sz="1400">
              <a:solidFill>
                <a:srgbClr val="000000"/>
              </a:solidFill>
            </a:endParaRPr>
          </a:p>
          <a:p>
            <a:pPr marL="457200" lvl="0" indent="-292100" algn="l" rtl="0">
              <a:lnSpc>
                <a:spcPct val="100000"/>
              </a:lnSpc>
              <a:spcBef>
                <a:spcPts val="0"/>
              </a:spcBef>
              <a:spcAft>
                <a:spcPts val="0"/>
              </a:spcAft>
              <a:buSzPts val="1000"/>
              <a:buChar char="-"/>
            </a:pPr>
            <a:r>
              <a:rPr lang="fr" sz="1400" b="1">
                <a:solidFill>
                  <a:srgbClr val="000000"/>
                </a:solidFill>
              </a:rPr>
              <a:t>S4 + GCN</a:t>
            </a:r>
            <a:r>
              <a:rPr lang="fr" sz="1400">
                <a:solidFill>
                  <a:srgbClr val="000000"/>
                </a:solidFill>
              </a:rPr>
              <a:t> model achieves an F1 score of </a:t>
            </a:r>
            <a:r>
              <a:rPr lang="fr" sz="1400" b="1">
                <a:solidFill>
                  <a:srgbClr val="000000"/>
                </a:solidFill>
              </a:rPr>
              <a:t>0.838</a:t>
            </a:r>
            <a:r>
              <a:rPr lang="fr" sz="1400">
                <a:solidFill>
                  <a:srgbClr val="000000"/>
                </a:solidFill>
              </a:rPr>
              <a:t>, outperforming the temporal-only </a:t>
            </a:r>
            <a:r>
              <a:rPr lang="fr" sz="1400" b="1">
                <a:solidFill>
                  <a:srgbClr val="000000"/>
                </a:solidFill>
              </a:rPr>
              <a:t>S4</a:t>
            </a:r>
            <a:r>
              <a:rPr lang="fr" sz="1400">
                <a:solidFill>
                  <a:srgbClr val="000000"/>
                </a:solidFill>
              </a:rPr>
              <a:t> baseline F1 score of </a:t>
            </a:r>
            <a:r>
              <a:rPr lang="fr" sz="1400" b="1">
                <a:solidFill>
                  <a:srgbClr val="000000"/>
                </a:solidFill>
              </a:rPr>
              <a:t>0.814</a:t>
            </a:r>
            <a:r>
              <a:rPr lang="fr" sz="1400">
                <a:solidFill>
                  <a:srgbClr val="000000"/>
                </a:solidFill>
              </a:rPr>
              <a:t>.</a:t>
            </a:r>
            <a:endParaRPr sz="1400">
              <a:solidFill>
                <a:srgbClr val="000000"/>
              </a:solidFill>
            </a:endParaRPr>
          </a:p>
          <a:p>
            <a:pPr marL="457200" lvl="0" indent="0" algn="l" rtl="0">
              <a:lnSpc>
                <a:spcPct val="90000"/>
              </a:lnSpc>
              <a:spcBef>
                <a:spcPts val="0"/>
              </a:spcBef>
              <a:spcAft>
                <a:spcPts val="0"/>
              </a:spcAft>
              <a:buNone/>
            </a:pPr>
            <a:endParaRPr sz="1400">
              <a:solidFill>
                <a:srgbClr val="000000"/>
              </a:solidFill>
            </a:endParaRPr>
          </a:p>
          <a:p>
            <a:pPr marL="457200" lvl="0" indent="-306070" algn="l" rtl="0">
              <a:spcBef>
                <a:spcPts val="0"/>
              </a:spcBef>
              <a:spcAft>
                <a:spcPts val="0"/>
              </a:spcAft>
              <a:buSzPts val="1220"/>
              <a:buChar char="-"/>
            </a:pPr>
            <a:r>
              <a:rPr lang="fr" sz="1400" b="1">
                <a:solidFill>
                  <a:srgbClr val="000000"/>
                </a:solidFill>
              </a:rPr>
              <a:t>S4</a:t>
            </a:r>
            <a:r>
              <a:rPr lang="fr" sz="1400">
                <a:solidFill>
                  <a:srgbClr val="000000"/>
                </a:solidFill>
              </a:rPr>
              <a:t> proves to be the strongest </a:t>
            </a:r>
            <a:r>
              <a:rPr lang="fr" sz="1400" b="1">
                <a:solidFill>
                  <a:srgbClr val="000000"/>
                </a:solidFill>
              </a:rPr>
              <a:t>temporal</a:t>
            </a:r>
            <a:r>
              <a:rPr lang="fr" sz="1400">
                <a:solidFill>
                  <a:srgbClr val="000000"/>
                </a:solidFill>
              </a:rPr>
              <a:t> model among those tested.</a:t>
            </a:r>
            <a:endParaRPr sz="1400">
              <a:solidFill>
                <a:srgbClr val="000000"/>
              </a:solidFill>
            </a:endParaRPr>
          </a:p>
          <a:p>
            <a:pPr marL="457200" lvl="0" indent="0" algn="l" rtl="0">
              <a:spcBef>
                <a:spcPts val="0"/>
              </a:spcBef>
              <a:spcAft>
                <a:spcPts val="0"/>
              </a:spcAft>
              <a:buNone/>
            </a:pPr>
            <a:endParaRPr sz="1400">
              <a:solidFill>
                <a:srgbClr val="000000"/>
              </a:solidFill>
            </a:endParaRPr>
          </a:p>
          <a:p>
            <a:pPr marL="457200" lvl="0" indent="-317500" algn="l" rtl="0">
              <a:spcBef>
                <a:spcPts val="0"/>
              </a:spcBef>
              <a:spcAft>
                <a:spcPts val="0"/>
              </a:spcAft>
              <a:buSzPts val="1400"/>
              <a:buChar char="-"/>
            </a:pPr>
            <a:r>
              <a:rPr lang="fr" sz="1400" b="1">
                <a:solidFill>
                  <a:srgbClr val="000000"/>
                </a:solidFill>
              </a:rPr>
              <a:t>Frequency-domain</a:t>
            </a:r>
            <a:r>
              <a:rPr lang="fr" sz="1400">
                <a:solidFill>
                  <a:srgbClr val="000000"/>
                </a:solidFill>
              </a:rPr>
              <a:t> inputs led to better performance in models such as </a:t>
            </a:r>
            <a:r>
              <a:rPr lang="fr" sz="1400" b="1">
                <a:solidFill>
                  <a:srgbClr val="000000"/>
                </a:solidFill>
              </a:rPr>
              <a:t>LSTM, LSTM-GNN variants, and DCRNN </a:t>
            </a:r>
            <a:r>
              <a:rPr lang="fr" sz="1400">
                <a:solidFill>
                  <a:srgbClr val="000000"/>
                </a:solidFill>
              </a:rPr>
              <a:t>whereas </a:t>
            </a:r>
            <a:r>
              <a:rPr lang="fr" sz="1400" b="1">
                <a:solidFill>
                  <a:srgbClr val="000000"/>
                </a:solidFill>
              </a:rPr>
              <a:t>time-domain</a:t>
            </a:r>
            <a:r>
              <a:rPr lang="fr" sz="1400">
                <a:solidFill>
                  <a:srgbClr val="000000"/>
                </a:solidFill>
              </a:rPr>
              <a:t> data yielded better results for </a:t>
            </a:r>
            <a:r>
              <a:rPr lang="fr" sz="1400" b="1">
                <a:solidFill>
                  <a:srgbClr val="000000"/>
                </a:solidFill>
              </a:rPr>
              <a:t>S4-GNN variants, STGCN and Resnet-LSTM</a:t>
            </a:r>
            <a:r>
              <a:rPr lang="fr" sz="1400">
                <a:solidFill>
                  <a:srgbClr val="000000"/>
                </a:solidFill>
              </a:rPr>
              <a:t>.</a:t>
            </a:r>
            <a:endParaRPr sz="1400">
              <a:solidFill>
                <a:srgbClr val="000000"/>
              </a:solidFill>
            </a:endParaRPr>
          </a:p>
          <a:p>
            <a:pPr marL="457200" lvl="0" indent="0" algn="l" rtl="0">
              <a:spcBef>
                <a:spcPts val="0"/>
              </a:spcBef>
              <a:spcAft>
                <a:spcPts val="0"/>
              </a:spcAft>
              <a:buNone/>
            </a:pPr>
            <a:endParaRPr sz="1400">
              <a:solidFill>
                <a:srgbClr val="000000"/>
              </a:solidFill>
            </a:endParaRPr>
          </a:p>
          <a:p>
            <a:pPr marL="457200" lvl="0" indent="-317500" algn="l" rtl="0">
              <a:spcBef>
                <a:spcPts val="0"/>
              </a:spcBef>
              <a:spcAft>
                <a:spcPts val="0"/>
              </a:spcAft>
              <a:buSzPts val="1400"/>
              <a:buChar char="-"/>
            </a:pPr>
            <a:r>
              <a:rPr lang="fr" sz="1400">
                <a:solidFill>
                  <a:srgbClr val="000000"/>
                </a:solidFill>
              </a:rPr>
              <a:t>Performance also improved when using </a:t>
            </a:r>
            <a:r>
              <a:rPr lang="fr" sz="1400" b="1">
                <a:solidFill>
                  <a:srgbClr val="000000"/>
                </a:solidFill>
              </a:rPr>
              <a:t>Inverse Distance</a:t>
            </a:r>
            <a:r>
              <a:rPr lang="fr" sz="1400">
                <a:solidFill>
                  <a:srgbClr val="000000"/>
                </a:solidFill>
              </a:rPr>
              <a:t> as edge weights instead of no weights.</a:t>
            </a:r>
            <a:endParaRPr sz="1400">
              <a:solidFill>
                <a:srgbClr val="000000"/>
              </a:solidFill>
            </a:endParaRPr>
          </a:p>
          <a:p>
            <a:pPr marL="0" lvl="0" indent="0" algn="l" rtl="0">
              <a:lnSpc>
                <a:spcPct val="90000"/>
              </a:lnSpc>
              <a:spcBef>
                <a:spcPts val="0"/>
              </a:spcBef>
              <a:spcAft>
                <a:spcPts val="0"/>
              </a:spcAft>
              <a:buNone/>
            </a:pPr>
            <a:endParaRPr sz="1400">
              <a:solidFill>
                <a:srgbClr val="000000"/>
              </a:solidFill>
            </a:endParaRPr>
          </a:p>
          <a:p>
            <a:pPr marL="457200" lvl="0" indent="-317500" algn="l" rtl="0">
              <a:lnSpc>
                <a:spcPct val="100000"/>
              </a:lnSpc>
              <a:spcBef>
                <a:spcPts val="0"/>
              </a:spcBef>
              <a:spcAft>
                <a:spcPts val="0"/>
              </a:spcAft>
              <a:buSzPts val="1400"/>
              <a:buChar char="-"/>
            </a:pPr>
            <a:r>
              <a:rPr lang="fr" sz="1400">
                <a:solidFill>
                  <a:srgbClr val="000000"/>
                </a:solidFill>
              </a:rPr>
              <a:t>Also we can see Resnet adds better results to only using LSTM where Resnet-LSTM has an F1 score of </a:t>
            </a:r>
            <a:r>
              <a:rPr lang="fr" sz="1400" b="1">
                <a:solidFill>
                  <a:srgbClr val="000000"/>
                </a:solidFill>
              </a:rPr>
              <a:t>0.813</a:t>
            </a:r>
            <a:r>
              <a:rPr lang="fr" sz="1400">
                <a:solidFill>
                  <a:srgbClr val="000000"/>
                </a:solidFill>
              </a:rPr>
              <a:t> compared to BiLSTM with score of </a:t>
            </a:r>
            <a:r>
              <a:rPr lang="fr" sz="1400" b="1">
                <a:solidFill>
                  <a:srgbClr val="000000"/>
                </a:solidFill>
              </a:rPr>
              <a:t>0.73.</a:t>
            </a:r>
            <a:endParaRPr sz="1400" b="1"/>
          </a:p>
        </p:txBody>
      </p:sp>
      <p:sp>
        <p:nvSpPr>
          <p:cNvPr id="326" name="Google Shape;326;p42"/>
          <p:cNvSpPr txBox="1">
            <a:spLocks noGrp="1"/>
          </p:cNvSpPr>
          <p:nvPr>
            <p:ph type="title"/>
          </p:nvPr>
        </p:nvSpPr>
        <p:spPr>
          <a:xfrm>
            <a:off x="904875" y="131032"/>
            <a:ext cx="36672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Findings</a:t>
            </a:r>
            <a:endParaRPr/>
          </a:p>
        </p:txBody>
      </p:sp>
      <p:sp>
        <p:nvSpPr>
          <p:cNvPr id="327" name="Google Shape;327;p42"/>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328" name="Google Shape;328;p42"/>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
        <p:nvSpPr>
          <p:cNvPr id="329" name="Google Shape;329;p42"/>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3"/>
          <p:cNvSpPr txBox="1">
            <a:spLocks noGrp="1"/>
          </p:cNvSpPr>
          <p:nvPr>
            <p:ph type="body" idx="1"/>
          </p:nvPr>
        </p:nvSpPr>
        <p:spPr>
          <a:xfrm>
            <a:off x="855625" y="951538"/>
            <a:ext cx="7726500" cy="3386700"/>
          </a:xfrm>
          <a:prstGeom prst="rect">
            <a:avLst/>
          </a:prstGeom>
          <a:noFill/>
          <a:ln>
            <a:noFill/>
          </a:ln>
        </p:spPr>
        <p:txBody>
          <a:bodyPr spcFirstLastPara="1" wrap="square" lIns="180000" tIns="45700" rIns="91425" bIns="45700" anchor="t" anchorCtr="0">
            <a:normAutofit/>
          </a:bodyPr>
          <a:lstStyle/>
          <a:p>
            <a:pPr marL="457200" lvl="0" indent="-317500" algn="l" rtl="0">
              <a:lnSpc>
                <a:spcPct val="115000"/>
              </a:lnSpc>
              <a:spcBef>
                <a:spcPts val="1200"/>
              </a:spcBef>
              <a:spcAft>
                <a:spcPts val="0"/>
              </a:spcAft>
              <a:buSzPts val="1400"/>
              <a:buChar char="-"/>
            </a:pPr>
            <a:r>
              <a:rPr lang="fr" sz="1400">
                <a:solidFill>
                  <a:srgbClr val="000000"/>
                </a:solidFill>
              </a:rPr>
              <a:t>Graph based methods can be potentially useful for doing seizure analysis.</a:t>
            </a:r>
            <a:endParaRPr sz="1400">
              <a:solidFill>
                <a:srgbClr val="000000"/>
              </a:solidFill>
            </a:endParaRPr>
          </a:p>
          <a:p>
            <a:pPr marL="457200" lvl="0" indent="-317500" algn="l" rtl="0">
              <a:lnSpc>
                <a:spcPct val="115000"/>
              </a:lnSpc>
              <a:spcBef>
                <a:spcPts val="0"/>
              </a:spcBef>
              <a:spcAft>
                <a:spcPts val="0"/>
              </a:spcAft>
              <a:buSzPts val="1400"/>
              <a:buChar char="-"/>
            </a:pPr>
            <a:r>
              <a:rPr lang="fr" sz="1400">
                <a:solidFill>
                  <a:srgbClr val="000000"/>
                </a:solidFill>
              </a:rPr>
              <a:t>Future work could explore integrating GNN’s into other temporal models and test performance of models trained with more EEG data.</a:t>
            </a:r>
            <a:endParaRPr sz="1400">
              <a:solidFill>
                <a:srgbClr val="000000"/>
              </a:solidFill>
            </a:endParaRPr>
          </a:p>
          <a:p>
            <a:pPr marL="0" lvl="0" indent="0" algn="l" rtl="0">
              <a:lnSpc>
                <a:spcPct val="100000"/>
              </a:lnSpc>
              <a:spcBef>
                <a:spcPts val="1200"/>
              </a:spcBef>
              <a:spcAft>
                <a:spcPts val="0"/>
              </a:spcAft>
              <a:buNone/>
            </a:pPr>
            <a:endParaRPr sz="1400">
              <a:solidFill>
                <a:srgbClr val="000000"/>
              </a:solidFill>
            </a:endParaRPr>
          </a:p>
        </p:txBody>
      </p:sp>
      <p:sp>
        <p:nvSpPr>
          <p:cNvPr id="335" name="Google Shape;335;p43"/>
          <p:cNvSpPr txBox="1">
            <a:spLocks noGrp="1"/>
          </p:cNvSpPr>
          <p:nvPr>
            <p:ph type="title"/>
          </p:nvPr>
        </p:nvSpPr>
        <p:spPr>
          <a:xfrm>
            <a:off x="904875" y="131028"/>
            <a:ext cx="3667200" cy="646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Conclusion</a:t>
            </a:r>
            <a:endParaRPr/>
          </a:p>
        </p:txBody>
      </p:sp>
      <p:sp>
        <p:nvSpPr>
          <p:cNvPr id="336" name="Google Shape;336;p43"/>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337" name="Google Shape;337;p43"/>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15</a:t>
            </a:fld>
            <a:endParaRPr/>
          </a:p>
        </p:txBody>
      </p:sp>
      <p:sp>
        <p:nvSpPr>
          <p:cNvPr id="338" name="Google Shape;338;p43"/>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4"/>
          <p:cNvSpPr txBox="1">
            <a:spLocks noGrp="1"/>
          </p:cNvSpPr>
          <p:nvPr>
            <p:ph type="title"/>
          </p:nvPr>
        </p:nvSpPr>
        <p:spPr>
          <a:xfrm>
            <a:off x="3124375" y="1988132"/>
            <a:ext cx="3667200" cy="1072800"/>
          </a:xfrm>
          <a:prstGeom prst="rect">
            <a:avLst/>
          </a:prstGeom>
          <a:noFill/>
          <a:ln>
            <a:noFill/>
          </a:ln>
        </p:spPr>
        <p:txBody>
          <a:bodyPr spcFirstLastPara="1" wrap="square" lIns="180000" tIns="0" rIns="72000" bIns="46800" anchor="t" anchorCtr="0">
            <a:normAutofit/>
          </a:bodyPr>
          <a:lstStyle/>
          <a:p>
            <a:pPr marL="0" lvl="0" indent="0" algn="l" rtl="0">
              <a:lnSpc>
                <a:spcPct val="90000"/>
              </a:lnSpc>
              <a:spcBef>
                <a:spcPts val="0"/>
              </a:spcBef>
              <a:spcAft>
                <a:spcPts val="0"/>
              </a:spcAft>
              <a:buClr>
                <a:schemeClr val="dk1"/>
              </a:buClr>
              <a:buSzPts val="3200"/>
              <a:buFont typeface="Libre Franklin"/>
              <a:buNone/>
            </a:pPr>
            <a:r>
              <a:rPr lang="fr"/>
              <a:t>Thank you!</a:t>
            </a:r>
            <a:endParaRPr/>
          </a:p>
        </p:txBody>
      </p:sp>
      <p:sp>
        <p:nvSpPr>
          <p:cNvPr id="344" name="Google Shape;344;p44"/>
          <p:cNvSpPr txBox="1">
            <a:spLocks noGrp="1"/>
          </p:cNvSpPr>
          <p:nvPr>
            <p:ph type="dt" idx="10"/>
          </p:nvPr>
        </p:nvSpPr>
        <p:spPr>
          <a:xfrm rot="-5400000">
            <a:off x="-1221499" y="2778490"/>
            <a:ext cx="3341100" cy="911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
              <a:t>EE452 - Network Machine Learning</a:t>
            </a:r>
            <a:endParaRPr/>
          </a:p>
        </p:txBody>
      </p:sp>
      <p:sp>
        <p:nvSpPr>
          <p:cNvPr id="345" name="Google Shape;345;p44"/>
          <p:cNvSpPr txBox="1">
            <a:spLocks noGrp="1"/>
          </p:cNvSpPr>
          <p:nvPr>
            <p:ph type="sldNum" idx="12"/>
          </p:nvPr>
        </p:nvSpPr>
        <p:spPr>
          <a:xfrm>
            <a:off x="8631238" y="195263"/>
            <a:ext cx="512700" cy="163500"/>
          </a:xfrm>
          <a:prstGeom prst="rect">
            <a:avLst/>
          </a:prstGeom>
          <a:noFill/>
          <a:ln>
            <a:noFill/>
          </a:ln>
        </p:spPr>
        <p:txBody>
          <a:bodyPr spcFirstLastPara="1" wrap="square" lIns="90000" tIns="0" rIns="90000" bIns="0" anchor="t" anchorCtr="0">
            <a:noAutofit/>
          </a:bodyPr>
          <a:lstStyle/>
          <a:p>
            <a:pPr marL="0" lvl="0" indent="0" algn="ctr" rtl="0">
              <a:spcBef>
                <a:spcPts val="0"/>
              </a:spcBef>
              <a:spcAft>
                <a:spcPts val="0"/>
              </a:spcAft>
              <a:buNone/>
            </a:pPr>
            <a:fld id="{00000000-1234-1234-1234-123412341234}" type="slidenum">
              <a:rPr lang="fr"/>
              <a:t>16</a:t>
            </a:fld>
            <a:endParaRPr/>
          </a:p>
        </p:txBody>
      </p:sp>
      <p:sp>
        <p:nvSpPr>
          <p:cNvPr id="346" name="Google Shape;346;p44"/>
          <p:cNvSpPr txBox="1">
            <a:spLocks noGrp="1"/>
          </p:cNvSpPr>
          <p:nvPr>
            <p:ph type="ftr" idx="11"/>
          </p:nvPr>
        </p:nvSpPr>
        <p:spPr>
          <a:xfrm rot="-5400000">
            <a:off x="7115938" y="1874075"/>
            <a:ext cx="3543300" cy="512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fr"/>
              <a:t>Group 22</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Simple Light</vt:lpstr>
      <vt:lpstr>Thème Office</vt:lpstr>
      <vt:lpstr>Graph Based EEG Analysis</vt:lpstr>
      <vt:lpstr>Problem Statement</vt:lpstr>
      <vt:lpstr>Dataset and Preprocessing</vt:lpstr>
      <vt:lpstr>Baseline Methods: BiLSTM</vt:lpstr>
      <vt:lpstr>Baseline Methods: Resnet-LSTM</vt:lpstr>
      <vt:lpstr>Baseline Methods: S4</vt:lpstr>
      <vt:lpstr>Graph Based Methods: GNN</vt:lpstr>
      <vt:lpstr>Graph Based Methods: LSTM-GNN</vt:lpstr>
      <vt:lpstr>Graph Based Methods: GNN-LSTM</vt:lpstr>
      <vt:lpstr>Graph Based Methods: Diffusion GNN</vt:lpstr>
      <vt:lpstr>Graph Based Methods: STGCN </vt:lpstr>
      <vt:lpstr>Graph Based Methods: S4 - GNN </vt:lpstr>
      <vt:lpstr>Results</vt:lpstr>
      <vt:lpstr>Findings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2026-01-28T07:20:58Z</dcterms:modified>
</cp:coreProperties>
</file>